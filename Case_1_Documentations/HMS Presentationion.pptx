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5890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jpe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hyperlink" Target="https://github.com/qasemalhamidi/my-project.g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57200" y="1098045"/>
            <a:ext cx="8229600" cy="2947411"/>
          </a:xfrm>
          <a:prstGeom prst="rect">
            <a:avLst/>
          </a:prstGeom>
          <a:solidFill>
            <a:srgbClr val="FFFFFF"/>
          </a:solidFill>
          <a:ln w="9144">
            <a:solidFill>
              <a:srgbClr val="E2E8F0"/>
            </a:solidFill>
            <a:prstDash val="solid"/>
          </a:ln>
        </p:spPr>
      </p:sp>
      <p:sp>
        <p:nvSpPr>
          <p:cNvPr id="4" name="Text 1"/>
          <p:cNvSpPr/>
          <p:nvPr/>
        </p:nvSpPr>
        <p:spPr>
          <a:xfrm>
            <a:off x="771525" y="1725830"/>
            <a:ext cx="7600950" cy="502909"/>
          </a:xfrm>
          <a:prstGeom prst="rect">
            <a:avLst/>
          </a:prstGeom>
          <a:noFill/>
          <a:ln/>
        </p:spPr>
        <p:txBody>
          <a:bodyPr wrap="none" lIns="0" tIns="0" rIns="0" bIns="0" rtlCol="0" anchor="t">
            <a:spAutoFit/>
          </a:bodyPr>
          <a:lstStyle/>
          <a:p>
            <a:pPr marL="0" indent="0" algn="l">
              <a:lnSpc>
                <a:spcPts val="4000"/>
              </a:lnSpc>
              <a:buNone/>
            </a:pPr>
            <a:r>
              <a:rPr lang="en-US" sz="3294" b="1" dirty="0">
                <a:solidFill>
                  <a:srgbClr val="102A43"/>
                </a:solidFill>
                <a:latin typeface="Inter" pitchFamily="34" charset="0"/>
                <a:ea typeface="Inter" pitchFamily="34" charset="-122"/>
                <a:cs typeface="Inter" pitchFamily="34" charset="-120"/>
              </a:rPr>
              <a:t>Hospital Management System</a:t>
            </a:r>
            <a:endParaRPr lang="en-US" sz="3294" dirty="0"/>
          </a:p>
        </p:txBody>
      </p:sp>
      <p:sp>
        <p:nvSpPr>
          <p:cNvPr id="5" name="Text 2"/>
          <p:cNvSpPr/>
          <p:nvPr/>
        </p:nvSpPr>
        <p:spPr>
          <a:xfrm>
            <a:off x="771525" y="2561341"/>
            <a:ext cx="2401416" cy="326827"/>
          </a:xfrm>
          <a:prstGeom prst="rect">
            <a:avLst/>
          </a:prstGeom>
          <a:noFill/>
          <a:ln/>
        </p:spPr>
        <p:txBody>
          <a:bodyPr wrap="none" lIns="0" tIns="0" rIns="0" bIns="68072" rtlCol="0" anchor="t">
            <a:spAutoFit/>
          </a:bodyPr>
          <a:lstStyle/>
          <a:p>
            <a:pPr marL="0" indent="0" algn="l">
              <a:lnSpc>
                <a:spcPts val="2200"/>
              </a:lnSpc>
              <a:buNone/>
            </a:pPr>
            <a:r>
              <a:rPr lang="en-US" sz="1704" dirty="0">
                <a:solidFill>
                  <a:srgbClr val="007BFF"/>
                </a:solidFill>
                <a:latin typeface="Inter" pitchFamily="34" charset="0"/>
                <a:ea typeface="Inter" pitchFamily="34" charset="-122"/>
                <a:cs typeface="Inter" pitchFamily="34" charset="-120"/>
              </a:rPr>
              <a:t>Design Patterns Project</a:t>
            </a:r>
            <a:endParaRPr lang="en-US" sz="1704" dirty="0"/>
          </a:p>
        </p:txBody>
      </p:sp>
      <p:pic>
        <p:nvPicPr>
          <p:cNvPr id="6" name="Image 1" descr="preencoded.png"/>
          <p:cNvPicPr>
            <a:picLocks noChangeAspect="1"/>
          </p:cNvPicPr>
          <p:nvPr/>
        </p:nvPicPr>
        <p:blipFill>
          <a:blip r:embed="rId4"/>
          <a:stretch>
            <a:fillRect/>
          </a:stretch>
        </p:blipFill>
        <p:spPr>
          <a:xfrm>
            <a:off x="771525" y="3257857"/>
            <a:ext cx="150019" cy="171450"/>
          </a:xfrm>
          <a:prstGeom prst="rect">
            <a:avLst/>
          </a:prstGeom>
        </p:spPr>
      </p:pic>
      <p:sp>
        <p:nvSpPr>
          <p:cNvPr id="7" name="Text 3"/>
          <p:cNvSpPr/>
          <p:nvPr/>
        </p:nvSpPr>
        <p:spPr>
          <a:xfrm>
            <a:off x="1007269" y="3245355"/>
            <a:ext cx="1371935" cy="196453"/>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334E68"/>
                </a:solidFill>
                <a:latin typeface="Inter" pitchFamily="34" charset="0"/>
                <a:ea typeface="Inter" pitchFamily="34" charset="-122"/>
                <a:cs typeface="Inter" pitchFamily="34" charset="-120"/>
              </a:rPr>
              <a:t>Qasim Al-Humaidi</a:t>
            </a:r>
            <a:endParaRPr lang="en-US" sz="1269" dirty="0"/>
          </a:p>
        </p:txBody>
      </p:sp>
      <p:pic>
        <p:nvPicPr>
          <p:cNvPr id="8" name="Image 2" descr="preencoded.png"/>
          <p:cNvPicPr>
            <a:picLocks noChangeAspect="1"/>
          </p:cNvPicPr>
          <p:nvPr/>
        </p:nvPicPr>
        <p:blipFill>
          <a:blip r:embed="rId4"/>
          <a:stretch>
            <a:fillRect/>
          </a:stretch>
        </p:blipFill>
        <p:spPr>
          <a:xfrm>
            <a:off x="4614863" y="3257857"/>
            <a:ext cx="150019" cy="171450"/>
          </a:xfrm>
          <a:prstGeom prst="rect">
            <a:avLst/>
          </a:prstGeom>
        </p:spPr>
      </p:pic>
      <p:sp>
        <p:nvSpPr>
          <p:cNvPr id="9" name="Text 4"/>
          <p:cNvSpPr/>
          <p:nvPr/>
        </p:nvSpPr>
        <p:spPr>
          <a:xfrm>
            <a:off x="4850606" y="3245355"/>
            <a:ext cx="1086129" cy="196453"/>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334E68"/>
                </a:solidFill>
                <a:latin typeface="Inter" pitchFamily="34" charset="0"/>
                <a:ea typeface="Inter" pitchFamily="34" charset="-122"/>
                <a:cs typeface="Inter" pitchFamily="34" charset="-120"/>
              </a:rPr>
              <a:t>Khalil Al-Masri</a:t>
            </a:r>
            <a:endParaRPr lang="en-US" sz="1269" dirty="0"/>
          </a:p>
        </p:txBody>
      </p:sp>
      <p:pic>
        <p:nvPicPr>
          <p:cNvPr id="10" name="Image 3" descr="preencoded.png"/>
          <p:cNvPicPr>
            <a:picLocks noChangeAspect="1"/>
          </p:cNvPicPr>
          <p:nvPr/>
        </p:nvPicPr>
        <p:blipFill>
          <a:blip r:embed="rId5"/>
          <a:stretch>
            <a:fillRect/>
          </a:stretch>
        </p:blipFill>
        <p:spPr>
          <a:xfrm>
            <a:off x="771525" y="3540035"/>
            <a:ext cx="150019" cy="171450"/>
          </a:xfrm>
          <a:prstGeom prst="rect">
            <a:avLst/>
          </a:prstGeom>
        </p:spPr>
      </p:pic>
      <p:sp>
        <p:nvSpPr>
          <p:cNvPr id="11" name="Text 5"/>
          <p:cNvSpPr/>
          <p:nvPr/>
        </p:nvSpPr>
        <p:spPr>
          <a:xfrm>
            <a:off x="1007269" y="3527534"/>
            <a:ext cx="1267206" cy="196453"/>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334E68"/>
                </a:solidFill>
                <a:latin typeface="Inter" pitchFamily="34" charset="0"/>
                <a:ea typeface="Inter" pitchFamily="34" charset="-122"/>
                <a:cs typeface="Inter" pitchFamily="34" charset="-120"/>
              </a:rPr>
              <a:t>Mahmoud Nimer</a:t>
            </a:r>
            <a:endParaRPr lang="en-US" sz="1269" dirty="0"/>
          </a:p>
        </p:txBody>
      </p:sp>
      <p:pic>
        <p:nvPicPr>
          <p:cNvPr id="12" name="Image 4" descr="preencoded.png"/>
          <p:cNvPicPr>
            <a:picLocks noChangeAspect="1"/>
          </p:cNvPicPr>
          <p:nvPr/>
        </p:nvPicPr>
        <p:blipFill>
          <a:blip r:embed="rId5"/>
          <a:stretch>
            <a:fillRect/>
          </a:stretch>
        </p:blipFill>
        <p:spPr>
          <a:xfrm>
            <a:off x="4614863" y="3540035"/>
            <a:ext cx="150019" cy="171450"/>
          </a:xfrm>
          <a:prstGeom prst="rect">
            <a:avLst/>
          </a:prstGeom>
        </p:spPr>
      </p:pic>
      <p:sp>
        <p:nvSpPr>
          <p:cNvPr id="13" name="Text 6"/>
          <p:cNvSpPr/>
          <p:nvPr/>
        </p:nvSpPr>
        <p:spPr>
          <a:xfrm>
            <a:off x="4850606" y="3527534"/>
            <a:ext cx="1638737" cy="196453"/>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334E68"/>
                </a:solidFill>
                <a:latin typeface="Inter" pitchFamily="34" charset="0"/>
                <a:ea typeface="Inter" pitchFamily="34" charset="-122"/>
                <a:cs typeface="Inter" pitchFamily="34" charset="-120"/>
              </a:rPr>
              <a:t>Mohammed Al-Homsi</a:t>
            </a:r>
            <a:endParaRPr lang="en-US" sz="1269"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91158"/>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1. Project Overview &amp; Problem Statement</a:t>
            </a:r>
            <a:endParaRPr lang="en-US" sz="1602" dirty="0"/>
          </a:p>
        </p:txBody>
      </p:sp>
      <p:sp>
        <p:nvSpPr>
          <p:cNvPr id="5" name="Shape 2"/>
          <p:cNvSpPr/>
          <p:nvPr/>
        </p:nvSpPr>
        <p:spPr>
          <a:xfrm>
            <a:off x="342900" y="919758"/>
            <a:ext cx="4129088" cy="3300413"/>
          </a:xfrm>
          <a:prstGeom prst="rect">
            <a:avLst/>
          </a:prstGeom>
          <a:solidFill>
            <a:srgbClr val="FFFFFF"/>
          </a:solidFill>
          <a:ln w="9144">
            <a:solidFill>
              <a:srgbClr val="E2E8F0"/>
            </a:solidFill>
            <a:prstDash val="solid"/>
          </a:ln>
        </p:spPr>
      </p:sp>
      <p:sp>
        <p:nvSpPr>
          <p:cNvPr id="6" name="Text 3"/>
          <p:cNvSpPr/>
          <p:nvPr/>
        </p:nvSpPr>
        <p:spPr>
          <a:xfrm>
            <a:off x="485775" y="1062633"/>
            <a:ext cx="3843338" cy="260747"/>
          </a:xfrm>
          <a:prstGeom prst="rect">
            <a:avLst/>
          </a:prstGeom>
          <a:noFill/>
          <a:ln/>
        </p:spPr>
        <p:txBody>
          <a:bodyPr wrap="none" lIns="0" tIns="0" rIns="0" bIns="68072" rtlCol="0" anchor="t">
            <a:spAutoFit/>
          </a:bodyPr>
          <a:lstStyle/>
          <a:p>
            <a:pPr marL="0" indent="0" algn="l">
              <a:lnSpc>
                <a:spcPts val="1600"/>
              </a:lnSpc>
              <a:buNone/>
            </a:pPr>
            <a:r>
              <a:rPr lang="en-US" sz="1193" b="1" dirty="0">
                <a:solidFill>
                  <a:srgbClr val="007BFF"/>
                </a:solidFill>
                <a:latin typeface="Inter" pitchFamily="34" charset="0"/>
                <a:ea typeface="Inter" pitchFamily="34" charset="-122"/>
                <a:cs typeface="Inter" pitchFamily="34" charset="-120"/>
              </a:rPr>
              <a:t>Project Goal</a:t>
            </a:r>
            <a:endParaRPr lang="en-US" sz="1193" dirty="0"/>
          </a:p>
        </p:txBody>
      </p:sp>
      <p:sp>
        <p:nvSpPr>
          <p:cNvPr id="7" name="Text 4"/>
          <p:cNvSpPr/>
          <p:nvPr/>
        </p:nvSpPr>
        <p:spPr>
          <a:xfrm>
            <a:off x="485775" y="1409105"/>
            <a:ext cx="3843338"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4E68"/>
                </a:solidFill>
                <a:latin typeface="Inter" pitchFamily="34" charset="0"/>
                <a:ea typeface="Inter" pitchFamily="34" charset="-122"/>
                <a:cs typeface="Inter" pitchFamily="34" charset="-120"/>
              </a:rPr>
              <a:t>To simplify code usage by avoiding complex constructors with many parameters, thereby reducing code complexity and improving maintainability.</a:t>
            </a:r>
            <a:endParaRPr lang="en-US" sz="942" dirty="0"/>
          </a:p>
        </p:txBody>
      </p:sp>
      <p:sp>
        <p:nvSpPr>
          <p:cNvPr id="8" name="Shape 5"/>
          <p:cNvSpPr/>
          <p:nvPr/>
        </p:nvSpPr>
        <p:spPr>
          <a:xfrm>
            <a:off x="485775" y="2140558"/>
            <a:ext cx="3843338" cy="464344"/>
          </a:xfrm>
          <a:prstGeom prst="rect">
            <a:avLst/>
          </a:prstGeom>
          <a:solidFill>
            <a:srgbClr val="EBF8FF"/>
          </a:solidFill>
          <a:ln/>
        </p:spPr>
      </p:sp>
      <p:sp>
        <p:nvSpPr>
          <p:cNvPr id="9" name="Shape 6"/>
          <p:cNvSpPr/>
          <p:nvPr/>
        </p:nvSpPr>
        <p:spPr>
          <a:xfrm>
            <a:off x="485775" y="2140558"/>
            <a:ext cx="28575" cy="464344"/>
          </a:xfrm>
          <a:prstGeom prst="rect">
            <a:avLst/>
          </a:prstGeom>
          <a:solidFill>
            <a:srgbClr val="007BFF"/>
          </a:solidFill>
          <a:ln/>
        </p:spPr>
      </p:sp>
      <p:sp>
        <p:nvSpPr>
          <p:cNvPr id="10" name="Text 7"/>
          <p:cNvSpPr/>
          <p:nvPr/>
        </p:nvSpPr>
        <p:spPr>
          <a:xfrm>
            <a:off x="485775" y="2140558"/>
            <a:ext cx="3843338" cy="464344"/>
          </a:xfrm>
          <a:prstGeom prst="rect">
            <a:avLst/>
          </a:prstGeom>
          <a:noFill/>
          <a:ln/>
        </p:spPr>
        <p:txBody>
          <a:bodyPr wrap="square" lIns="119126" tIns="119126" rIns="119126" bIns="119126"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Focus:</a:t>
            </a:r>
            <a:r>
              <a:rPr lang="en-US" sz="834" dirty="0">
                <a:solidFill>
                  <a:srgbClr val="334E68"/>
                </a:solidFill>
                <a:latin typeface="Inter" pitchFamily="34" charset="0"/>
                <a:ea typeface="Inter" pitchFamily="34" charset="-122"/>
                <a:cs typeface="Inter" pitchFamily="34" charset="-120"/>
              </a:rPr>
              <a:t> Modular design and efficient object creation in a clinical environment.</a:t>
            </a:r>
            <a:endParaRPr lang="en-US" sz="784" dirty="0"/>
          </a:p>
        </p:txBody>
      </p:sp>
      <p:sp>
        <p:nvSpPr>
          <p:cNvPr id="11" name="Shape 8"/>
          <p:cNvSpPr/>
          <p:nvPr/>
        </p:nvSpPr>
        <p:spPr>
          <a:xfrm>
            <a:off x="4672013" y="919758"/>
            <a:ext cx="4129088" cy="3300413"/>
          </a:xfrm>
          <a:prstGeom prst="rect">
            <a:avLst/>
          </a:prstGeom>
          <a:solidFill>
            <a:srgbClr val="FFFFFF"/>
          </a:solidFill>
          <a:ln w="9144">
            <a:solidFill>
              <a:srgbClr val="E2E8F0"/>
            </a:solidFill>
            <a:prstDash val="solid"/>
          </a:ln>
        </p:spPr>
      </p:sp>
      <p:sp>
        <p:nvSpPr>
          <p:cNvPr id="12" name="Text 9"/>
          <p:cNvSpPr/>
          <p:nvPr/>
        </p:nvSpPr>
        <p:spPr>
          <a:xfrm>
            <a:off x="4814888" y="1062633"/>
            <a:ext cx="3843338" cy="260747"/>
          </a:xfrm>
          <a:prstGeom prst="rect">
            <a:avLst/>
          </a:prstGeom>
          <a:noFill/>
          <a:ln/>
        </p:spPr>
        <p:txBody>
          <a:bodyPr wrap="none" lIns="0" tIns="0" rIns="0" bIns="68072" rtlCol="0" anchor="t">
            <a:spAutoFit/>
          </a:bodyPr>
          <a:lstStyle/>
          <a:p>
            <a:pPr marL="0" indent="0" algn="l">
              <a:lnSpc>
                <a:spcPts val="1600"/>
              </a:lnSpc>
              <a:buNone/>
            </a:pPr>
            <a:r>
              <a:rPr lang="en-US" sz="1193" b="1" dirty="0">
                <a:solidFill>
                  <a:srgbClr val="007BFF"/>
                </a:solidFill>
                <a:latin typeface="Inter" pitchFamily="34" charset="0"/>
                <a:ea typeface="Inter" pitchFamily="34" charset="-122"/>
                <a:cs typeface="Inter" pitchFamily="34" charset="-120"/>
              </a:rPr>
              <a:t>The "Unsaved Progress" Problem</a:t>
            </a:r>
            <a:endParaRPr lang="en-US" sz="1193" dirty="0"/>
          </a:p>
        </p:txBody>
      </p:sp>
      <p:sp>
        <p:nvSpPr>
          <p:cNvPr id="13" name="Text 10"/>
          <p:cNvSpPr/>
          <p:nvPr/>
        </p:nvSpPr>
        <p:spPr>
          <a:xfrm>
            <a:off x="4814888" y="1409105"/>
            <a:ext cx="3843338"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334E68"/>
                </a:solidFill>
                <a:latin typeface="Inter" pitchFamily="34" charset="0"/>
                <a:ea typeface="Inter" pitchFamily="34" charset="-122"/>
                <a:cs typeface="Inter" pitchFamily="34" charset="-120"/>
              </a:rPr>
              <a:t>A nurse spends 20 minutes entering data for 10 patients. Suddenly:</a:t>
            </a:r>
            <a:endParaRPr lang="en-US" sz="942" dirty="0"/>
          </a:p>
        </p:txBody>
      </p:sp>
      <p:pic>
        <p:nvPicPr>
          <p:cNvPr id="14" name="Image 1" descr="preencoded.png"/>
          <p:cNvPicPr>
            <a:picLocks noChangeAspect="1"/>
          </p:cNvPicPr>
          <p:nvPr/>
        </p:nvPicPr>
        <p:blipFill>
          <a:blip r:embed="rId4"/>
          <a:stretch>
            <a:fillRect/>
          </a:stretch>
        </p:blipFill>
        <p:spPr>
          <a:xfrm>
            <a:off x="4814888" y="1721979"/>
            <a:ext cx="85725" cy="114300"/>
          </a:xfrm>
          <a:prstGeom prst="rect">
            <a:avLst/>
          </a:prstGeom>
        </p:spPr>
      </p:pic>
      <p:sp>
        <p:nvSpPr>
          <p:cNvPr id="15" name="Text 11"/>
          <p:cNvSpPr/>
          <p:nvPr/>
        </p:nvSpPr>
        <p:spPr>
          <a:xfrm>
            <a:off x="4986338" y="1700547"/>
            <a:ext cx="1575476" cy="132159"/>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4E68"/>
                </a:solidFill>
                <a:latin typeface="Inter" pitchFamily="34" charset="0"/>
                <a:ea typeface="Inter" pitchFamily="34" charset="-122"/>
                <a:cs typeface="Inter" pitchFamily="34" charset="-120"/>
              </a:rPr>
              <a:t>Power outage or system crash.</a:t>
            </a:r>
            <a:endParaRPr lang="en-US" sz="834" dirty="0"/>
          </a:p>
        </p:txBody>
      </p:sp>
      <p:pic>
        <p:nvPicPr>
          <p:cNvPr id="16" name="Image 2" descr="preencoded.png"/>
          <p:cNvPicPr>
            <a:picLocks noChangeAspect="1"/>
          </p:cNvPicPr>
          <p:nvPr/>
        </p:nvPicPr>
        <p:blipFill>
          <a:blip r:embed="rId5"/>
          <a:stretch>
            <a:fillRect/>
          </a:stretch>
        </p:blipFill>
        <p:spPr>
          <a:xfrm>
            <a:off x="4814888" y="1929147"/>
            <a:ext cx="114300" cy="114300"/>
          </a:xfrm>
          <a:prstGeom prst="rect">
            <a:avLst/>
          </a:prstGeom>
        </p:spPr>
      </p:pic>
      <p:sp>
        <p:nvSpPr>
          <p:cNvPr id="17" name="Text 12"/>
          <p:cNvSpPr/>
          <p:nvPr/>
        </p:nvSpPr>
        <p:spPr>
          <a:xfrm>
            <a:off x="5014913" y="1907716"/>
            <a:ext cx="1905986" cy="132159"/>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4E68"/>
                </a:solidFill>
                <a:latin typeface="Inter" pitchFamily="34" charset="0"/>
                <a:ea typeface="Inter" pitchFamily="34" charset="-122"/>
                <a:cs typeface="Inter" pitchFamily="34" charset="-120"/>
              </a:rPr>
              <a:t>Windows forces an automatic update.</a:t>
            </a:r>
            <a:endParaRPr lang="en-US" sz="834" dirty="0"/>
          </a:p>
        </p:txBody>
      </p:sp>
      <p:pic>
        <p:nvPicPr>
          <p:cNvPr id="18" name="Image 3" descr="preencoded.png"/>
          <p:cNvPicPr>
            <a:picLocks noChangeAspect="1"/>
          </p:cNvPicPr>
          <p:nvPr/>
        </p:nvPicPr>
        <p:blipFill>
          <a:blip r:embed="rId6"/>
          <a:stretch>
            <a:fillRect/>
          </a:stretch>
        </p:blipFill>
        <p:spPr>
          <a:xfrm>
            <a:off x="4814888" y="2136316"/>
            <a:ext cx="114300" cy="114300"/>
          </a:xfrm>
          <a:prstGeom prst="rect">
            <a:avLst/>
          </a:prstGeom>
        </p:spPr>
      </p:pic>
      <p:sp>
        <p:nvSpPr>
          <p:cNvPr id="19" name="Text 13"/>
          <p:cNvSpPr/>
          <p:nvPr/>
        </p:nvSpPr>
        <p:spPr>
          <a:xfrm>
            <a:off x="5014913" y="2114885"/>
            <a:ext cx="3643313" cy="264319"/>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Challenge:</a:t>
            </a:r>
            <a:r>
              <a:rPr lang="en-US" sz="834" dirty="0">
                <a:solidFill>
                  <a:srgbClr val="334E68"/>
                </a:solidFill>
                <a:latin typeface="Inter" pitchFamily="34" charset="0"/>
                <a:ea typeface="Inter" pitchFamily="34" charset="-122"/>
                <a:cs typeface="Inter" pitchFamily="34" charset="-120"/>
              </a:rPr>
              <a:t> Keeping Java Swing UI (Table) and Data (List) synchronized.</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2. Problem Analysis: Inputs &amp; Process</a:t>
            </a:r>
            <a:endParaRPr lang="en-US" sz="1602" dirty="0"/>
          </a:p>
        </p:txBody>
      </p:sp>
      <p:sp>
        <p:nvSpPr>
          <p:cNvPr id="5" name="Shape 2"/>
          <p:cNvSpPr/>
          <p:nvPr/>
        </p:nvSpPr>
        <p:spPr>
          <a:xfrm>
            <a:off x="257175" y="1005483"/>
            <a:ext cx="2781291" cy="3557588"/>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385763" y="1139428"/>
            <a:ext cx="125016" cy="142875"/>
          </a:xfrm>
          <a:prstGeom prst="rect">
            <a:avLst/>
          </a:prstGeom>
        </p:spPr>
      </p:pic>
      <p:sp>
        <p:nvSpPr>
          <p:cNvPr id="7" name="Text 3"/>
          <p:cNvSpPr/>
          <p:nvPr/>
        </p:nvSpPr>
        <p:spPr>
          <a:xfrm>
            <a:off x="510778" y="1135856"/>
            <a:ext cx="1016171" cy="15894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latin typeface="Inter" pitchFamily="34" charset="0"/>
                <a:ea typeface="Inter" pitchFamily="34" charset="-122"/>
                <a:cs typeface="Inter" pitchFamily="34" charset="-120"/>
              </a:rPr>
              <a:t>Employee Info</a:t>
            </a:r>
            <a:endParaRPr lang="en-US" sz="987" dirty="0"/>
          </a:p>
        </p:txBody>
      </p:sp>
      <p:pic>
        <p:nvPicPr>
          <p:cNvPr id="8" name="Image 2" descr="preencoded.png"/>
          <p:cNvPicPr>
            <a:picLocks noChangeAspect="1"/>
          </p:cNvPicPr>
          <p:nvPr/>
        </p:nvPicPr>
        <p:blipFill>
          <a:blip r:embed="rId5"/>
          <a:stretch>
            <a:fillRect/>
          </a:stretch>
        </p:blipFill>
        <p:spPr>
          <a:xfrm>
            <a:off x="385763" y="1442145"/>
            <a:ext cx="85725" cy="85725"/>
          </a:xfrm>
          <a:prstGeom prst="rect">
            <a:avLst/>
          </a:prstGeom>
        </p:spPr>
      </p:pic>
      <p:sp>
        <p:nvSpPr>
          <p:cNvPr id="9" name="Text 4"/>
          <p:cNvSpPr/>
          <p:nvPr/>
        </p:nvSpPr>
        <p:spPr>
          <a:xfrm>
            <a:off x="542925" y="1426964"/>
            <a:ext cx="978052"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ID (int), Name (String)</a:t>
            </a:r>
            <a:endParaRPr lang="en-US" sz="727" dirty="0"/>
          </a:p>
        </p:txBody>
      </p:sp>
      <p:pic>
        <p:nvPicPr>
          <p:cNvPr id="10" name="Image 3" descr="preencoded.png"/>
          <p:cNvPicPr>
            <a:picLocks noChangeAspect="1"/>
          </p:cNvPicPr>
          <p:nvPr/>
        </p:nvPicPr>
        <p:blipFill>
          <a:blip r:embed="rId6"/>
          <a:stretch>
            <a:fillRect/>
          </a:stretch>
        </p:blipFill>
        <p:spPr>
          <a:xfrm>
            <a:off x="385763" y="1615380"/>
            <a:ext cx="85725" cy="85725"/>
          </a:xfrm>
          <a:prstGeom prst="rect">
            <a:avLst/>
          </a:prstGeom>
        </p:spPr>
      </p:pic>
      <p:sp>
        <p:nvSpPr>
          <p:cNvPr id="11" name="Text 5"/>
          <p:cNvSpPr/>
          <p:nvPr/>
        </p:nvSpPr>
        <p:spPr>
          <a:xfrm>
            <a:off x="542925" y="1600200"/>
            <a:ext cx="994907"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Age (int), Role (String)</a:t>
            </a:r>
            <a:endParaRPr lang="en-US" sz="727" dirty="0"/>
          </a:p>
        </p:txBody>
      </p:sp>
      <p:pic>
        <p:nvPicPr>
          <p:cNvPr id="12" name="Image 4" descr="preencoded.png"/>
          <p:cNvPicPr>
            <a:picLocks noChangeAspect="1"/>
          </p:cNvPicPr>
          <p:nvPr/>
        </p:nvPicPr>
        <p:blipFill>
          <a:blip r:embed="rId7"/>
          <a:stretch>
            <a:fillRect/>
          </a:stretch>
        </p:blipFill>
        <p:spPr>
          <a:xfrm>
            <a:off x="385763" y="1788616"/>
            <a:ext cx="85725" cy="85725"/>
          </a:xfrm>
          <a:prstGeom prst="rect">
            <a:avLst/>
          </a:prstGeom>
        </p:spPr>
      </p:pic>
      <p:sp>
        <p:nvSpPr>
          <p:cNvPr id="13" name="Text 6"/>
          <p:cNvSpPr/>
          <p:nvPr/>
        </p:nvSpPr>
        <p:spPr>
          <a:xfrm>
            <a:off x="542925" y="1773436"/>
            <a:ext cx="933962"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Base Salary (double)</a:t>
            </a:r>
            <a:endParaRPr lang="en-US" sz="727" dirty="0"/>
          </a:p>
        </p:txBody>
      </p:sp>
      <p:pic>
        <p:nvPicPr>
          <p:cNvPr id="14" name="Image 5" descr="preencoded.png"/>
          <p:cNvPicPr>
            <a:picLocks noChangeAspect="1"/>
          </p:cNvPicPr>
          <p:nvPr/>
        </p:nvPicPr>
        <p:blipFill>
          <a:blip r:embed="rId8"/>
          <a:stretch>
            <a:fillRect/>
          </a:stretch>
        </p:blipFill>
        <p:spPr>
          <a:xfrm>
            <a:off x="385763" y="1961852"/>
            <a:ext cx="85725" cy="85725"/>
          </a:xfrm>
          <a:prstGeom prst="rect">
            <a:avLst/>
          </a:prstGeom>
        </p:spPr>
      </p:pic>
      <p:sp>
        <p:nvSpPr>
          <p:cNvPr id="15" name="Text 7"/>
          <p:cNvSpPr/>
          <p:nvPr/>
        </p:nvSpPr>
        <p:spPr>
          <a:xfrm>
            <a:off x="542925" y="1946672"/>
            <a:ext cx="883955"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Dept, Specialization</a:t>
            </a:r>
            <a:endParaRPr lang="en-US" sz="727" dirty="0"/>
          </a:p>
        </p:txBody>
      </p:sp>
      <p:pic>
        <p:nvPicPr>
          <p:cNvPr id="16" name="Image 6" descr="preencoded.png"/>
          <p:cNvPicPr>
            <a:picLocks noChangeAspect="1"/>
          </p:cNvPicPr>
          <p:nvPr/>
        </p:nvPicPr>
        <p:blipFill>
          <a:blip r:embed="rId5"/>
          <a:stretch>
            <a:fillRect/>
          </a:stretch>
        </p:blipFill>
        <p:spPr>
          <a:xfrm>
            <a:off x="385763" y="2135088"/>
            <a:ext cx="85725" cy="85725"/>
          </a:xfrm>
          <a:prstGeom prst="rect">
            <a:avLst/>
          </a:prstGeom>
        </p:spPr>
      </p:pic>
      <p:sp>
        <p:nvSpPr>
          <p:cNvPr id="17" name="Text 8"/>
          <p:cNvSpPr/>
          <p:nvPr/>
        </p:nvSpPr>
        <p:spPr>
          <a:xfrm>
            <a:off x="542925" y="2119908"/>
            <a:ext cx="756065"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Experience, Shift</a:t>
            </a:r>
            <a:endParaRPr lang="en-US" sz="727" dirty="0"/>
          </a:p>
        </p:txBody>
      </p:sp>
      <p:sp>
        <p:nvSpPr>
          <p:cNvPr id="18" name="Text 9"/>
          <p:cNvSpPr/>
          <p:nvPr/>
        </p:nvSpPr>
        <p:spPr>
          <a:xfrm>
            <a:off x="385763" y="2307431"/>
            <a:ext cx="2524116" cy="116086"/>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02A43"/>
                </a:solidFill>
                <a:latin typeface="Inter" pitchFamily="34" charset="0"/>
                <a:ea typeface="Inter" pitchFamily="34" charset="-122"/>
                <a:cs typeface="Inter" pitchFamily="34" charset="-120"/>
              </a:rPr>
              <a:t>Extends: Person (Base Class)</a:t>
            </a:r>
            <a:endParaRPr lang="en-US" sz="683" dirty="0"/>
          </a:p>
        </p:txBody>
      </p:sp>
      <p:sp>
        <p:nvSpPr>
          <p:cNvPr id="19" name="Shape 10"/>
          <p:cNvSpPr/>
          <p:nvPr/>
        </p:nvSpPr>
        <p:spPr>
          <a:xfrm>
            <a:off x="3181341" y="1005483"/>
            <a:ext cx="2781291" cy="3557588"/>
          </a:xfrm>
          <a:prstGeom prst="rect">
            <a:avLst/>
          </a:prstGeom>
          <a:solidFill>
            <a:srgbClr val="FFFFFF"/>
          </a:solidFill>
          <a:ln w="9144">
            <a:solidFill>
              <a:srgbClr val="E2E8F0"/>
            </a:solidFill>
            <a:prstDash val="solid"/>
          </a:ln>
        </p:spPr>
      </p:sp>
      <p:pic>
        <p:nvPicPr>
          <p:cNvPr id="20" name="Image 7" descr="preencoded.png"/>
          <p:cNvPicPr>
            <a:picLocks noChangeAspect="1"/>
          </p:cNvPicPr>
          <p:nvPr/>
        </p:nvPicPr>
        <p:blipFill>
          <a:blip r:embed="rId9"/>
          <a:stretch>
            <a:fillRect/>
          </a:stretch>
        </p:blipFill>
        <p:spPr>
          <a:xfrm>
            <a:off x="3309928" y="1139428"/>
            <a:ext cx="125016" cy="142875"/>
          </a:xfrm>
          <a:prstGeom prst="rect">
            <a:avLst/>
          </a:prstGeom>
        </p:spPr>
      </p:pic>
      <p:sp>
        <p:nvSpPr>
          <p:cNvPr id="21" name="Text 11"/>
          <p:cNvSpPr/>
          <p:nvPr/>
        </p:nvSpPr>
        <p:spPr>
          <a:xfrm>
            <a:off x="3434944" y="1135856"/>
            <a:ext cx="817569" cy="15894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latin typeface="Inter" pitchFamily="34" charset="0"/>
                <a:ea typeface="Inter" pitchFamily="34" charset="-122"/>
                <a:cs typeface="Inter" pitchFamily="34" charset="-120"/>
              </a:rPr>
              <a:t>Patient Info</a:t>
            </a:r>
            <a:endParaRPr lang="en-US" sz="987" dirty="0"/>
          </a:p>
        </p:txBody>
      </p:sp>
      <p:pic>
        <p:nvPicPr>
          <p:cNvPr id="22" name="Image 8" descr="preencoded.png"/>
          <p:cNvPicPr>
            <a:picLocks noChangeAspect="1"/>
          </p:cNvPicPr>
          <p:nvPr/>
        </p:nvPicPr>
        <p:blipFill>
          <a:blip r:embed="rId10"/>
          <a:stretch>
            <a:fillRect/>
          </a:stretch>
        </p:blipFill>
        <p:spPr>
          <a:xfrm>
            <a:off x="3309928" y="1442145"/>
            <a:ext cx="85725" cy="85725"/>
          </a:xfrm>
          <a:prstGeom prst="rect">
            <a:avLst/>
          </a:prstGeom>
        </p:spPr>
      </p:pic>
      <p:sp>
        <p:nvSpPr>
          <p:cNvPr id="23" name="Text 12"/>
          <p:cNvSpPr/>
          <p:nvPr/>
        </p:nvSpPr>
        <p:spPr>
          <a:xfrm>
            <a:off x="3467091" y="1426964"/>
            <a:ext cx="711473"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address (String)</a:t>
            </a:r>
            <a:endParaRPr lang="en-US" sz="727" dirty="0"/>
          </a:p>
        </p:txBody>
      </p:sp>
      <p:pic>
        <p:nvPicPr>
          <p:cNvPr id="24" name="Image 9" descr="preencoded.png"/>
          <p:cNvPicPr>
            <a:picLocks noChangeAspect="1"/>
          </p:cNvPicPr>
          <p:nvPr/>
        </p:nvPicPr>
        <p:blipFill>
          <a:blip r:embed="rId11"/>
          <a:stretch>
            <a:fillRect/>
          </a:stretch>
        </p:blipFill>
        <p:spPr>
          <a:xfrm>
            <a:off x="3309928" y="1615380"/>
            <a:ext cx="85725" cy="85725"/>
          </a:xfrm>
          <a:prstGeom prst="rect">
            <a:avLst/>
          </a:prstGeom>
        </p:spPr>
      </p:pic>
      <p:sp>
        <p:nvSpPr>
          <p:cNvPr id="25" name="Text 13"/>
          <p:cNvSpPr/>
          <p:nvPr/>
        </p:nvSpPr>
        <p:spPr>
          <a:xfrm>
            <a:off x="3467091" y="1600200"/>
            <a:ext cx="1050494"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fileNumber (final String)</a:t>
            </a:r>
            <a:endParaRPr lang="en-US" sz="727" dirty="0"/>
          </a:p>
        </p:txBody>
      </p:sp>
      <p:pic>
        <p:nvPicPr>
          <p:cNvPr id="26" name="Image 10" descr="preencoded.png"/>
          <p:cNvPicPr>
            <a:picLocks noChangeAspect="1"/>
          </p:cNvPicPr>
          <p:nvPr/>
        </p:nvPicPr>
        <p:blipFill>
          <a:blip r:embed="rId12"/>
          <a:stretch>
            <a:fillRect/>
          </a:stretch>
        </p:blipFill>
        <p:spPr>
          <a:xfrm>
            <a:off x="3309928" y="1788616"/>
            <a:ext cx="85725" cy="85725"/>
          </a:xfrm>
          <a:prstGeom prst="rect">
            <a:avLst/>
          </a:prstGeom>
        </p:spPr>
      </p:pic>
      <p:sp>
        <p:nvSpPr>
          <p:cNvPr id="27" name="Text 14"/>
          <p:cNvSpPr/>
          <p:nvPr/>
        </p:nvSpPr>
        <p:spPr>
          <a:xfrm>
            <a:off x="3467091" y="1773436"/>
            <a:ext cx="778222"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diagnosis (String)</a:t>
            </a:r>
            <a:endParaRPr lang="en-US" sz="727" dirty="0"/>
          </a:p>
        </p:txBody>
      </p:sp>
      <p:pic>
        <p:nvPicPr>
          <p:cNvPr id="28" name="Image 11" descr="preencoded.png"/>
          <p:cNvPicPr>
            <a:picLocks noChangeAspect="1"/>
          </p:cNvPicPr>
          <p:nvPr/>
        </p:nvPicPr>
        <p:blipFill>
          <a:blip r:embed="rId13"/>
          <a:stretch>
            <a:fillRect/>
          </a:stretch>
        </p:blipFill>
        <p:spPr>
          <a:xfrm>
            <a:off x="3309928" y="1961852"/>
            <a:ext cx="85725" cy="85725"/>
          </a:xfrm>
          <a:prstGeom prst="rect">
            <a:avLst/>
          </a:prstGeom>
        </p:spPr>
      </p:pic>
      <p:sp>
        <p:nvSpPr>
          <p:cNvPr id="29" name="Text 15"/>
          <p:cNvSpPr/>
          <p:nvPr/>
        </p:nvSpPr>
        <p:spPr>
          <a:xfrm>
            <a:off x="3467091" y="1946672"/>
            <a:ext cx="989493"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phoneNumber (String)</a:t>
            </a:r>
            <a:endParaRPr lang="en-US" sz="727" dirty="0"/>
          </a:p>
        </p:txBody>
      </p:sp>
      <p:pic>
        <p:nvPicPr>
          <p:cNvPr id="30" name="Image 12" descr="preencoded.png"/>
          <p:cNvPicPr>
            <a:picLocks noChangeAspect="1"/>
          </p:cNvPicPr>
          <p:nvPr/>
        </p:nvPicPr>
        <p:blipFill>
          <a:blip r:embed="rId10"/>
          <a:stretch>
            <a:fillRect/>
          </a:stretch>
        </p:blipFill>
        <p:spPr>
          <a:xfrm>
            <a:off x="3309928" y="2135088"/>
            <a:ext cx="85725" cy="85725"/>
          </a:xfrm>
          <a:prstGeom prst="rect">
            <a:avLst/>
          </a:prstGeom>
        </p:spPr>
      </p:pic>
      <p:sp>
        <p:nvSpPr>
          <p:cNvPr id="31" name="Text 16"/>
          <p:cNvSpPr/>
          <p:nvPr/>
        </p:nvSpPr>
        <p:spPr>
          <a:xfrm>
            <a:off x="3467091" y="2119908"/>
            <a:ext cx="783943"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bloodType, status</a:t>
            </a:r>
            <a:endParaRPr lang="en-US" sz="727" dirty="0"/>
          </a:p>
        </p:txBody>
      </p:sp>
      <p:pic>
        <p:nvPicPr>
          <p:cNvPr id="32" name="Image 13" descr="preencoded.png"/>
          <p:cNvPicPr>
            <a:picLocks noChangeAspect="1"/>
          </p:cNvPicPr>
          <p:nvPr/>
        </p:nvPicPr>
        <p:blipFill>
          <a:blip r:embed="rId11"/>
          <a:stretch>
            <a:fillRect/>
          </a:stretch>
        </p:blipFill>
        <p:spPr>
          <a:xfrm>
            <a:off x="3309928" y="2308324"/>
            <a:ext cx="85725" cy="85725"/>
          </a:xfrm>
          <a:prstGeom prst="rect">
            <a:avLst/>
          </a:prstGeom>
        </p:spPr>
      </p:pic>
      <p:sp>
        <p:nvSpPr>
          <p:cNvPr id="33" name="Text 17"/>
          <p:cNvSpPr/>
          <p:nvPr/>
        </p:nvSpPr>
        <p:spPr>
          <a:xfrm>
            <a:off x="3467091" y="2293144"/>
            <a:ext cx="1206261"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admissionDate (LocalDate)</a:t>
            </a:r>
            <a:endParaRPr lang="en-US" sz="727" dirty="0"/>
          </a:p>
        </p:txBody>
      </p:sp>
      <p:sp>
        <p:nvSpPr>
          <p:cNvPr id="34" name="Shape 18"/>
          <p:cNvSpPr/>
          <p:nvPr/>
        </p:nvSpPr>
        <p:spPr>
          <a:xfrm>
            <a:off x="6105506" y="1005483"/>
            <a:ext cx="2781319" cy="3557588"/>
          </a:xfrm>
          <a:prstGeom prst="rect">
            <a:avLst/>
          </a:prstGeom>
          <a:solidFill>
            <a:srgbClr val="FFFFFF"/>
          </a:solidFill>
          <a:ln w="9144">
            <a:solidFill>
              <a:srgbClr val="E2E8F0"/>
            </a:solidFill>
            <a:prstDash val="solid"/>
          </a:ln>
        </p:spPr>
      </p:sp>
      <p:pic>
        <p:nvPicPr>
          <p:cNvPr id="35" name="Image 14" descr="preencoded.png"/>
          <p:cNvPicPr>
            <a:picLocks noChangeAspect="1"/>
          </p:cNvPicPr>
          <p:nvPr/>
        </p:nvPicPr>
        <p:blipFill>
          <a:blip r:embed="rId14"/>
          <a:stretch>
            <a:fillRect/>
          </a:stretch>
        </p:blipFill>
        <p:spPr>
          <a:xfrm>
            <a:off x="6234094" y="1139428"/>
            <a:ext cx="178594" cy="142875"/>
          </a:xfrm>
          <a:prstGeom prst="rect">
            <a:avLst/>
          </a:prstGeom>
        </p:spPr>
      </p:pic>
      <p:sp>
        <p:nvSpPr>
          <p:cNvPr id="36" name="Text 19"/>
          <p:cNvSpPr/>
          <p:nvPr/>
        </p:nvSpPr>
        <p:spPr>
          <a:xfrm>
            <a:off x="6412688" y="1135856"/>
            <a:ext cx="889425" cy="15894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latin typeface="Inter" pitchFamily="34" charset="0"/>
                <a:ea typeface="Inter" pitchFamily="34" charset="-122"/>
                <a:cs typeface="Inter" pitchFamily="34" charset="-120"/>
              </a:rPr>
              <a:t>The Process</a:t>
            </a:r>
            <a:endParaRPr lang="en-US" sz="987" dirty="0"/>
          </a:p>
        </p:txBody>
      </p:sp>
      <p:pic>
        <p:nvPicPr>
          <p:cNvPr id="37" name="Image 15" descr="preencoded.png"/>
          <p:cNvPicPr>
            <a:picLocks noChangeAspect="1"/>
          </p:cNvPicPr>
          <p:nvPr/>
        </p:nvPicPr>
        <p:blipFill>
          <a:blip r:embed="rId15"/>
          <a:stretch>
            <a:fillRect/>
          </a:stretch>
        </p:blipFill>
        <p:spPr>
          <a:xfrm>
            <a:off x="6234094" y="1442145"/>
            <a:ext cx="85725" cy="85725"/>
          </a:xfrm>
          <a:prstGeom prst="rect">
            <a:avLst/>
          </a:prstGeom>
        </p:spPr>
      </p:pic>
      <p:sp>
        <p:nvSpPr>
          <p:cNvPr id="38" name="Text 20"/>
          <p:cNvSpPr/>
          <p:nvPr/>
        </p:nvSpPr>
        <p:spPr>
          <a:xfrm>
            <a:off x="6391256" y="1426964"/>
            <a:ext cx="833865"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1. Data Structuring</a:t>
            </a:r>
            <a:endParaRPr lang="en-US" sz="727" dirty="0"/>
          </a:p>
        </p:txBody>
      </p:sp>
      <p:pic>
        <p:nvPicPr>
          <p:cNvPr id="39" name="Image 16" descr="preencoded.png"/>
          <p:cNvPicPr>
            <a:picLocks noChangeAspect="1"/>
          </p:cNvPicPr>
          <p:nvPr/>
        </p:nvPicPr>
        <p:blipFill>
          <a:blip r:embed="rId16"/>
          <a:stretch>
            <a:fillRect/>
          </a:stretch>
        </p:blipFill>
        <p:spPr>
          <a:xfrm>
            <a:off x="6234094" y="1615380"/>
            <a:ext cx="85725" cy="85725"/>
          </a:xfrm>
          <a:prstGeom prst="rect">
            <a:avLst/>
          </a:prstGeom>
        </p:spPr>
      </p:pic>
      <p:sp>
        <p:nvSpPr>
          <p:cNvPr id="40" name="Text 21"/>
          <p:cNvSpPr/>
          <p:nvPr/>
        </p:nvSpPr>
        <p:spPr>
          <a:xfrm>
            <a:off x="6391256" y="1600200"/>
            <a:ext cx="1056187"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2. Automatic Enrollment</a:t>
            </a:r>
            <a:endParaRPr lang="en-US" sz="727" dirty="0"/>
          </a:p>
        </p:txBody>
      </p:sp>
      <p:pic>
        <p:nvPicPr>
          <p:cNvPr id="41" name="Image 17" descr="preencoded.png"/>
          <p:cNvPicPr>
            <a:picLocks noChangeAspect="1"/>
          </p:cNvPicPr>
          <p:nvPr/>
        </p:nvPicPr>
        <p:blipFill>
          <a:blip r:embed="rId17"/>
          <a:stretch>
            <a:fillRect/>
          </a:stretch>
        </p:blipFill>
        <p:spPr>
          <a:xfrm>
            <a:off x="6234094" y="1788616"/>
            <a:ext cx="85725" cy="85725"/>
          </a:xfrm>
          <a:prstGeom prst="rect">
            <a:avLst/>
          </a:prstGeom>
        </p:spPr>
      </p:pic>
      <p:sp>
        <p:nvSpPr>
          <p:cNvPr id="42" name="Text 22"/>
          <p:cNvSpPr/>
          <p:nvPr/>
        </p:nvSpPr>
        <p:spPr>
          <a:xfrm>
            <a:off x="6391256" y="1773436"/>
            <a:ext cx="983968"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3. Record Initialization</a:t>
            </a:r>
            <a:endParaRPr lang="en-US" sz="727" dirty="0"/>
          </a:p>
        </p:txBody>
      </p:sp>
      <p:pic>
        <p:nvPicPr>
          <p:cNvPr id="43" name="Image 18" descr="preencoded.png"/>
          <p:cNvPicPr>
            <a:picLocks noChangeAspect="1"/>
          </p:cNvPicPr>
          <p:nvPr/>
        </p:nvPicPr>
        <p:blipFill>
          <a:blip r:embed="rId18"/>
          <a:stretch>
            <a:fillRect/>
          </a:stretch>
        </p:blipFill>
        <p:spPr>
          <a:xfrm>
            <a:off x="6234094" y="1961852"/>
            <a:ext cx="85725" cy="85725"/>
          </a:xfrm>
          <a:prstGeom prst="rect">
            <a:avLst/>
          </a:prstGeom>
        </p:spPr>
      </p:pic>
      <p:sp>
        <p:nvSpPr>
          <p:cNvPr id="44" name="Text 23"/>
          <p:cNvSpPr/>
          <p:nvPr/>
        </p:nvSpPr>
        <p:spPr>
          <a:xfrm>
            <a:off x="6391256" y="1946672"/>
            <a:ext cx="984107" cy="116086"/>
          </a:xfrm>
          <a:prstGeom prst="rect">
            <a:avLst/>
          </a:prstGeom>
          <a:noFill/>
          <a:ln/>
        </p:spPr>
        <p:txBody>
          <a:bodyPr wrap="none" lIns="0" tIns="0" rIns="0" bIns="0" rtlCol="0" anchor="t">
            <a:spAutoFit/>
          </a:bodyPr>
          <a:lstStyle/>
          <a:p>
            <a:pPr marL="0" indent="0" algn="l">
              <a:lnSpc>
                <a:spcPts val="900"/>
              </a:lnSpc>
              <a:buNone/>
            </a:pPr>
            <a:r>
              <a:rPr lang="en-US" sz="727" dirty="0">
                <a:solidFill>
                  <a:srgbClr val="334E68"/>
                </a:solidFill>
                <a:latin typeface="Inter" pitchFamily="34" charset="0"/>
                <a:ea typeface="Inter" pitchFamily="34" charset="-122"/>
                <a:cs typeface="Inter" pitchFamily="34" charset="-120"/>
              </a:rPr>
              <a:t>4. Info Representation</a:t>
            </a:r>
            <a:endParaRPr lang="en-US" sz="727" dirty="0"/>
          </a:p>
        </p:txBody>
      </p:sp>
      <p:sp>
        <p:nvSpPr>
          <p:cNvPr id="45" name="Text 24"/>
          <p:cNvSpPr/>
          <p:nvPr/>
        </p:nvSpPr>
        <p:spPr>
          <a:xfrm>
            <a:off x="6234094" y="2148483"/>
            <a:ext cx="2524144" cy="107156"/>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334E68"/>
                </a:solidFill>
                <a:latin typeface="Inter" pitchFamily="34" charset="0"/>
                <a:ea typeface="Inter" pitchFamily="34" charset="-122"/>
                <a:cs typeface="Inter" pitchFamily="34" charset="-120"/>
              </a:rPr>
              <a:t>Linking general personal data with specialized clinical data.</a:t>
            </a:r>
            <a:endParaRPr lang="en-US" sz="67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 y="57150"/>
            <a:ext cx="9029700" cy="5072063"/>
          </a:xfrm>
          <a:prstGeom prst="rect">
            <a:avLst/>
          </a:prstGeom>
        </p:spPr>
      </p:pic>
      <p:sp>
        <p:nvSpPr>
          <p:cNvPr id="3" name="Shape 0"/>
          <p:cNvSpPr/>
          <p:nvPr/>
        </p:nvSpPr>
        <p:spPr>
          <a:xfrm>
            <a:off x="57150" y="57150"/>
            <a:ext cx="9144000" cy="691158"/>
          </a:xfrm>
          <a:prstGeom prst="rect">
            <a:avLst/>
          </a:prstGeom>
          <a:solidFill>
            <a:srgbClr val="102A43"/>
          </a:solidFill>
          <a:ln/>
        </p:spPr>
      </p:sp>
      <p:sp>
        <p:nvSpPr>
          <p:cNvPr id="4" name="Text 1"/>
          <p:cNvSpPr/>
          <p:nvPr/>
        </p:nvSpPr>
        <p:spPr>
          <a:xfrm>
            <a:off x="485775" y="34290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3. Problem Analysis: Constraints &amp; Trade-offs</a:t>
            </a:r>
            <a:endParaRPr lang="en-US" sz="1602" dirty="0"/>
          </a:p>
        </p:txBody>
      </p:sp>
      <p:sp>
        <p:nvSpPr>
          <p:cNvPr id="5" name="Shape 2"/>
          <p:cNvSpPr/>
          <p:nvPr/>
        </p:nvSpPr>
        <p:spPr>
          <a:xfrm>
            <a:off x="485775" y="834033"/>
            <a:ext cx="4071938" cy="3071813"/>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585788" y="941189"/>
            <a:ext cx="157163" cy="157163"/>
          </a:xfrm>
          <a:prstGeom prst="rect">
            <a:avLst/>
          </a:prstGeom>
        </p:spPr>
      </p:pic>
      <p:sp>
        <p:nvSpPr>
          <p:cNvPr id="7" name="Text 3"/>
          <p:cNvSpPr/>
          <p:nvPr/>
        </p:nvSpPr>
        <p:spPr>
          <a:xfrm>
            <a:off x="742950" y="935831"/>
            <a:ext cx="1519693" cy="176808"/>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7BFF"/>
                </a:solidFill>
                <a:latin typeface="Inter" pitchFamily="34" charset="0"/>
                <a:ea typeface="Inter" pitchFamily="34" charset="-122"/>
                <a:cs typeface="Inter" pitchFamily="34" charset="-120"/>
              </a:rPr>
              <a:t>System Constraints</a:t>
            </a:r>
            <a:endParaRPr lang="en-US" sz="1090" dirty="0"/>
          </a:p>
        </p:txBody>
      </p:sp>
      <p:sp>
        <p:nvSpPr>
          <p:cNvPr id="8" name="Text 4"/>
          <p:cNvSpPr/>
          <p:nvPr/>
        </p:nvSpPr>
        <p:spPr>
          <a:xfrm>
            <a:off x="585788" y="1237655"/>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Data Integrity:</a:t>
            </a:r>
            <a:endParaRPr lang="en-US" sz="734" dirty="0"/>
          </a:p>
        </p:txBody>
      </p:sp>
      <p:sp>
        <p:nvSpPr>
          <p:cNvPr id="9" name="Text 5"/>
          <p:cNvSpPr/>
          <p:nvPr/>
        </p:nvSpPr>
        <p:spPr>
          <a:xfrm>
            <a:off x="585788" y="1401961"/>
            <a:ext cx="3484252"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Immutable fileNumber (final), unique IDs, and mandatory fields validation.</a:t>
            </a:r>
            <a:endParaRPr lang="en-US" sz="780" dirty="0"/>
          </a:p>
        </p:txBody>
      </p:sp>
      <p:sp>
        <p:nvSpPr>
          <p:cNvPr id="10" name="Text 6"/>
          <p:cNvSpPr/>
          <p:nvPr/>
        </p:nvSpPr>
        <p:spPr>
          <a:xfrm>
            <a:off x="585788" y="1594842"/>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Logical &amp; Type:</a:t>
            </a:r>
            <a:endParaRPr lang="en-US" sz="734" dirty="0"/>
          </a:p>
        </p:txBody>
      </p:sp>
      <p:sp>
        <p:nvSpPr>
          <p:cNvPr id="11" name="Text 7"/>
          <p:cNvSpPr/>
          <p:nvPr/>
        </p:nvSpPr>
        <p:spPr>
          <a:xfrm>
            <a:off x="585788" y="1759148"/>
            <a:ext cx="3168337"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Strict typing for numeric data, JComboBox for restricted selections.</a:t>
            </a:r>
            <a:endParaRPr lang="en-US" sz="780" dirty="0"/>
          </a:p>
        </p:txBody>
      </p:sp>
      <p:sp>
        <p:nvSpPr>
          <p:cNvPr id="12" name="Text 8"/>
          <p:cNvSpPr/>
          <p:nvPr/>
        </p:nvSpPr>
        <p:spPr>
          <a:xfrm>
            <a:off x="585788" y="1952030"/>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Operational:</a:t>
            </a:r>
            <a:endParaRPr lang="en-US" sz="734" dirty="0"/>
          </a:p>
        </p:txBody>
      </p:sp>
      <p:sp>
        <p:nvSpPr>
          <p:cNvPr id="13" name="Text 9"/>
          <p:cNvSpPr/>
          <p:nvPr/>
        </p:nvSpPr>
        <p:spPr>
          <a:xfrm>
            <a:off x="585788" y="2116336"/>
            <a:ext cx="2686134"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Automated time-stamping, CardLayout for view isolation.</a:t>
            </a:r>
            <a:endParaRPr lang="en-US" sz="780" dirty="0"/>
          </a:p>
        </p:txBody>
      </p:sp>
      <p:sp>
        <p:nvSpPr>
          <p:cNvPr id="14" name="Text 10"/>
          <p:cNvSpPr/>
          <p:nvPr/>
        </p:nvSpPr>
        <p:spPr>
          <a:xfrm>
            <a:off x="585788" y="2309217"/>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Non-Functional:</a:t>
            </a:r>
            <a:endParaRPr lang="en-US" sz="734" dirty="0"/>
          </a:p>
        </p:txBody>
      </p:sp>
      <p:sp>
        <p:nvSpPr>
          <p:cNvPr id="15" name="Text 11"/>
          <p:cNvSpPr/>
          <p:nvPr/>
        </p:nvSpPr>
        <p:spPr>
          <a:xfrm>
            <a:off x="585788" y="2473523"/>
            <a:ext cx="2960303"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Persistence only on manual save, inheritance-based structure.</a:t>
            </a:r>
            <a:endParaRPr lang="en-US" sz="780" dirty="0"/>
          </a:p>
        </p:txBody>
      </p:sp>
      <p:sp>
        <p:nvSpPr>
          <p:cNvPr id="16" name="Shape 12"/>
          <p:cNvSpPr/>
          <p:nvPr/>
        </p:nvSpPr>
        <p:spPr>
          <a:xfrm>
            <a:off x="4700588" y="834033"/>
            <a:ext cx="4071938" cy="3071813"/>
          </a:xfrm>
          <a:prstGeom prst="rect">
            <a:avLst/>
          </a:prstGeom>
          <a:solidFill>
            <a:srgbClr val="FFFFFF"/>
          </a:solidFill>
          <a:ln w="9144">
            <a:solidFill>
              <a:srgbClr val="E2E8F0"/>
            </a:solidFill>
            <a:prstDash val="solid"/>
          </a:ln>
        </p:spPr>
      </p:sp>
      <p:pic>
        <p:nvPicPr>
          <p:cNvPr id="17" name="Image 2" descr="preencoded.png"/>
          <p:cNvPicPr>
            <a:picLocks noChangeAspect="1"/>
          </p:cNvPicPr>
          <p:nvPr/>
        </p:nvPicPr>
        <p:blipFill>
          <a:blip r:embed="rId5"/>
          <a:stretch>
            <a:fillRect/>
          </a:stretch>
        </p:blipFill>
        <p:spPr>
          <a:xfrm>
            <a:off x="4800600" y="941189"/>
            <a:ext cx="196453" cy="157163"/>
          </a:xfrm>
          <a:prstGeom prst="rect">
            <a:avLst/>
          </a:prstGeom>
        </p:spPr>
      </p:pic>
      <p:sp>
        <p:nvSpPr>
          <p:cNvPr id="18" name="Text 13"/>
          <p:cNvSpPr/>
          <p:nvPr/>
        </p:nvSpPr>
        <p:spPr>
          <a:xfrm>
            <a:off x="4997053" y="935831"/>
            <a:ext cx="1737940" cy="176808"/>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7BFF"/>
                </a:solidFill>
                <a:latin typeface="Inter" pitchFamily="34" charset="0"/>
                <a:ea typeface="Inter" pitchFamily="34" charset="-122"/>
                <a:cs typeface="Inter" pitchFamily="34" charset="-120"/>
              </a:rPr>
              <a:t>Engineering Decisions</a:t>
            </a:r>
            <a:endParaRPr lang="en-US" sz="1090" dirty="0"/>
          </a:p>
        </p:txBody>
      </p:sp>
      <p:sp>
        <p:nvSpPr>
          <p:cNvPr id="19" name="Text 14"/>
          <p:cNvSpPr/>
          <p:nvPr/>
        </p:nvSpPr>
        <p:spPr>
          <a:xfrm>
            <a:off x="4800600" y="1237655"/>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Memory vs. Persistence:</a:t>
            </a:r>
            <a:endParaRPr lang="en-US" sz="734" dirty="0"/>
          </a:p>
        </p:txBody>
      </p:sp>
      <p:sp>
        <p:nvSpPr>
          <p:cNvPr id="20" name="Text 15"/>
          <p:cNvSpPr/>
          <p:nvPr/>
        </p:nvSpPr>
        <p:spPr>
          <a:xfrm>
            <a:off x="4800600" y="1401961"/>
            <a:ext cx="3555885"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Used LocalDate objects for easier date calculations despite higher memory</a:t>
            </a:r>
            <a:endParaRPr lang="en-US" sz="780" dirty="0"/>
          </a:p>
        </p:txBody>
      </p:sp>
      <p:sp>
        <p:nvSpPr>
          <p:cNvPr id="21" name="Text 16"/>
          <p:cNvSpPr/>
          <p:nvPr/>
        </p:nvSpPr>
        <p:spPr>
          <a:xfrm>
            <a:off x="4800600" y="1551980"/>
            <a:ext cx="321748"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usage.</a:t>
            </a:r>
            <a:endParaRPr lang="en-US" sz="780" dirty="0"/>
          </a:p>
        </p:txBody>
      </p:sp>
      <p:sp>
        <p:nvSpPr>
          <p:cNvPr id="22" name="Text 17"/>
          <p:cNvSpPr/>
          <p:nvPr/>
        </p:nvSpPr>
        <p:spPr>
          <a:xfrm>
            <a:off x="4800600" y="1744861"/>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Flexibility vs. Specificity:</a:t>
            </a:r>
            <a:endParaRPr lang="en-US" sz="734" dirty="0"/>
          </a:p>
        </p:txBody>
      </p:sp>
      <p:sp>
        <p:nvSpPr>
          <p:cNvPr id="23" name="Text 18"/>
          <p:cNvSpPr/>
          <p:nvPr/>
        </p:nvSpPr>
        <p:spPr>
          <a:xfrm>
            <a:off x="4800600" y="1909167"/>
            <a:ext cx="3541933"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Used Strings for status/bloodType to maintain quick development flexibility.</a:t>
            </a:r>
            <a:endParaRPr lang="en-US" sz="780" dirty="0"/>
          </a:p>
        </p:txBody>
      </p:sp>
      <p:sp>
        <p:nvSpPr>
          <p:cNvPr id="24" name="Text 19"/>
          <p:cNvSpPr/>
          <p:nvPr/>
        </p:nvSpPr>
        <p:spPr>
          <a:xfrm>
            <a:off x="4800600" y="2102048"/>
            <a:ext cx="3871913"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102A43"/>
                </a:solidFill>
                <a:latin typeface="Inter" pitchFamily="34" charset="0"/>
                <a:ea typeface="Inter" pitchFamily="34" charset="-122"/>
                <a:cs typeface="Inter" pitchFamily="34" charset="-120"/>
              </a:rPr>
              <a:t>Inheritance Choice:</a:t>
            </a:r>
            <a:endParaRPr lang="en-US" sz="734" dirty="0"/>
          </a:p>
        </p:txBody>
      </p:sp>
      <p:sp>
        <p:nvSpPr>
          <p:cNvPr id="25" name="Text 20"/>
          <p:cNvSpPr/>
          <p:nvPr/>
        </p:nvSpPr>
        <p:spPr>
          <a:xfrm>
            <a:off x="4800600" y="2266355"/>
            <a:ext cx="3378575" cy="119658"/>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4E68"/>
                </a:solidFill>
                <a:latin typeface="Inter" pitchFamily="34" charset="0"/>
                <a:ea typeface="Inter" pitchFamily="34" charset="-122"/>
                <a:cs typeface="Inter" pitchFamily="34" charset="-120"/>
              </a:rPr>
              <a:t>Used 'extends Person' to follow DRY principle, accepting tight coupling.</a:t>
            </a:r>
            <a:endParaRPr lang="en-US" sz="780" dirty="0"/>
          </a:p>
        </p:txBody>
      </p:sp>
      <p:sp>
        <p:nvSpPr>
          <p:cNvPr id="26" name="Shape 21"/>
          <p:cNvSpPr/>
          <p:nvPr/>
        </p:nvSpPr>
        <p:spPr>
          <a:xfrm>
            <a:off x="4800600" y="2502098"/>
            <a:ext cx="3871913" cy="275034"/>
          </a:xfrm>
          <a:prstGeom prst="rect">
            <a:avLst/>
          </a:prstGeom>
          <a:solidFill>
            <a:srgbClr val="EBF8FF"/>
          </a:solidFill>
          <a:ln/>
        </p:spPr>
      </p:sp>
      <p:sp>
        <p:nvSpPr>
          <p:cNvPr id="27" name="Shape 22"/>
          <p:cNvSpPr/>
          <p:nvPr/>
        </p:nvSpPr>
        <p:spPr>
          <a:xfrm>
            <a:off x="4800600" y="2502098"/>
            <a:ext cx="28575" cy="275034"/>
          </a:xfrm>
          <a:prstGeom prst="rect">
            <a:avLst/>
          </a:prstGeom>
          <a:solidFill>
            <a:srgbClr val="17A2B8"/>
          </a:solidFill>
          <a:ln/>
        </p:spPr>
      </p:sp>
      <p:pic>
        <p:nvPicPr>
          <p:cNvPr id="28" name="Image 3" descr="preencoded.png"/>
          <p:cNvPicPr>
            <a:picLocks noChangeAspect="1"/>
          </p:cNvPicPr>
          <p:nvPr/>
        </p:nvPicPr>
        <p:blipFill>
          <a:blip r:embed="rId6"/>
          <a:stretch>
            <a:fillRect/>
          </a:stretch>
        </p:blipFill>
        <p:spPr>
          <a:xfrm>
            <a:off x="4872038" y="2578894"/>
            <a:ext cx="114300" cy="114300"/>
          </a:xfrm>
          <a:prstGeom prst="rect">
            <a:avLst/>
          </a:prstGeom>
        </p:spPr>
      </p:pic>
      <p:sp>
        <p:nvSpPr>
          <p:cNvPr id="29" name="Text 23"/>
          <p:cNvSpPr/>
          <p:nvPr/>
        </p:nvSpPr>
        <p:spPr>
          <a:xfrm>
            <a:off x="4986338" y="2575322"/>
            <a:ext cx="2913143" cy="128588"/>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Traded Code Brevity for Robustness and Readability.</a:t>
            </a:r>
            <a:endParaRPr lang="en-US" sz="78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4. Selected Design Pattern</a:t>
            </a:r>
            <a:endParaRPr lang="en-US" sz="1602" dirty="0"/>
          </a:p>
        </p:txBody>
      </p:sp>
      <p:sp>
        <p:nvSpPr>
          <p:cNvPr id="5" name="Shape 2"/>
          <p:cNvSpPr/>
          <p:nvPr/>
        </p:nvSpPr>
        <p:spPr>
          <a:xfrm>
            <a:off x="964406" y="1704873"/>
            <a:ext cx="7215188" cy="2117731"/>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2814414" y="2023663"/>
            <a:ext cx="385763" cy="342900"/>
          </a:xfrm>
          <a:prstGeom prst="rect">
            <a:avLst/>
          </a:prstGeom>
        </p:spPr>
      </p:pic>
      <p:sp>
        <p:nvSpPr>
          <p:cNvPr id="7" name="Text 3"/>
          <p:cNvSpPr/>
          <p:nvPr/>
        </p:nvSpPr>
        <p:spPr>
          <a:xfrm>
            <a:off x="3343052" y="1997766"/>
            <a:ext cx="2457896" cy="394692"/>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7BFF"/>
                </a:solidFill>
                <a:latin typeface="Inter" pitchFamily="34" charset="0"/>
                <a:ea typeface="Inter" pitchFamily="34" charset="-122"/>
                <a:cs typeface="Inter" pitchFamily="34" charset="-120"/>
              </a:rPr>
              <a:t>Builder Pattern</a:t>
            </a:r>
            <a:endParaRPr lang="en-US" sz="2436" dirty="0"/>
          </a:p>
        </p:txBody>
      </p:sp>
      <p:pic>
        <p:nvPicPr>
          <p:cNvPr id="8" name="Image 2" descr="preencoded.png"/>
          <p:cNvPicPr>
            <a:picLocks noChangeAspect="1"/>
          </p:cNvPicPr>
          <p:nvPr/>
        </p:nvPicPr>
        <p:blipFill>
          <a:blip r:embed="rId5"/>
          <a:stretch>
            <a:fillRect/>
          </a:stretch>
        </p:blipFill>
        <p:spPr>
          <a:xfrm>
            <a:off x="5943823" y="2023663"/>
            <a:ext cx="385763" cy="342900"/>
          </a:xfrm>
          <a:prstGeom prst="rect">
            <a:avLst/>
          </a:prstGeom>
        </p:spPr>
      </p:pic>
      <p:sp>
        <p:nvSpPr>
          <p:cNvPr id="9" name="Text 4"/>
          <p:cNvSpPr/>
          <p:nvPr/>
        </p:nvSpPr>
        <p:spPr>
          <a:xfrm>
            <a:off x="1714500" y="2706784"/>
            <a:ext cx="5715000" cy="822927"/>
          </a:xfrm>
          <a:prstGeom prst="rect">
            <a:avLst/>
          </a:prstGeom>
          <a:noFill/>
          <a:ln/>
        </p:spPr>
        <p:txBody>
          <a:bodyPr wrap="square" lIns="0" tIns="0" rIns="0" bIns="0" rtlCol="0" anchor="t">
            <a:spAutoFit/>
          </a:bodyPr>
          <a:lstStyle/>
          <a:p>
            <a:pPr marL="0" indent="0" algn="ctr">
              <a:lnSpc>
                <a:spcPts val="2200"/>
              </a:lnSpc>
              <a:buNone/>
            </a:pPr>
            <a:r>
              <a:rPr lang="en-US" sz="1269" dirty="0">
                <a:solidFill>
                  <a:srgbClr val="334E68"/>
                </a:solidFill>
                <a:latin typeface="Inter" pitchFamily="34" charset="0"/>
                <a:ea typeface="Inter" pitchFamily="34" charset="-122"/>
                <a:cs typeface="Inter" pitchFamily="34" charset="-120"/>
              </a:rPr>
              <a:t>The </a:t>
            </a:r>
            <a:r>
              <a:rPr lang="en-US" sz="1193" b="1" dirty="0">
                <a:solidFill>
                  <a:srgbClr val="102A43"/>
                </a:solidFill>
                <a:latin typeface="Inter" pitchFamily="34" charset="0"/>
                <a:ea typeface="Inter" pitchFamily="34" charset="-122"/>
                <a:cs typeface="Inter" pitchFamily="34" charset="-120"/>
              </a:rPr>
              <a:t>Builder Pattern</a:t>
            </a:r>
            <a:r>
              <a:rPr lang="en-US" sz="1269" dirty="0">
                <a:solidFill>
                  <a:srgbClr val="334E68"/>
                </a:solidFill>
                <a:latin typeface="Inter" pitchFamily="34" charset="0"/>
                <a:ea typeface="Inter" pitchFamily="34" charset="-122"/>
                <a:cs typeface="Inter" pitchFamily="34" charset="-120"/>
              </a:rPr>
              <a:t> is used to separate the construction of a complex object from its representation, allowing the same construction process to create different representations.</a:t>
            </a:r>
            <a:endParaRPr lang="en-US" sz="1269" dirty="0"/>
          </a:p>
        </p:txBody>
      </p:sp>
      <p:sp>
        <p:nvSpPr>
          <p:cNvPr id="10" name="Text 5"/>
          <p:cNvSpPr/>
          <p:nvPr/>
        </p:nvSpPr>
        <p:spPr>
          <a:xfrm>
            <a:off x="3166858" y="4244085"/>
            <a:ext cx="2810284" cy="164306"/>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17A2B8"/>
                </a:solidFill>
                <a:latin typeface="Inter" pitchFamily="34" charset="0"/>
                <a:ea typeface="Inter" pitchFamily="34" charset="-122"/>
                <a:cs typeface="Inter" pitchFamily="34" charset="-120"/>
              </a:rPr>
              <a:t>Applied to: Hospital Management System</a:t>
            </a:r>
            <a:endParaRPr lang="en-US" sz="98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91158"/>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5. Why Builder Pattern? Anti-Pattern vs. Solution</a:t>
            </a:r>
            <a:endParaRPr lang="en-US" sz="1602" dirty="0"/>
          </a:p>
        </p:txBody>
      </p:sp>
      <p:sp>
        <p:nvSpPr>
          <p:cNvPr id="5" name="Shape 2"/>
          <p:cNvSpPr/>
          <p:nvPr/>
        </p:nvSpPr>
        <p:spPr>
          <a:xfrm>
            <a:off x="428625" y="862608"/>
            <a:ext cx="8286750" cy="1728788"/>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571500" y="1017984"/>
            <a:ext cx="157163" cy="157163"/>
          </a:xfrm>
          <a:prstGeom prst="rect">
            <a:avLst/>
          </a:prstGeom>
        </p:spPr>
      </p:pic>
      <p:sp>
        <p:nvSpPr>
          <p:cNvPr id="7" name="Text 3"/>
          <p:cNvSpPr/>
          <p:nvPr/>
        </p:nvSpPr>
        <p:spPr>
          <a:xfrm>
            <a:off x="814388" y="1005483"/>
            <a:ext cx="3160830"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Inter" pitchFamily="34" charset="0"/>
                <a:ea typeface="Inter" pitchFamily="34" charset="-122"/>
                <a:cs typeface="Inter" pitchFamily="34" charset="-120"/>
              </a:rPr>
              <a:t>The Anti-Pattern: Telescoping Constructor</a:t>
            </a:r>
            <a:endParaRPr lang="en-US" sz="1090" dirty="0"/>
          </a:p>
        </p:txBody>
      </p:sp>
      <p:sp>
        <p:nvSpPr>
          <p:cNvPr id="8" name="Text 4"/>
          <p:cNvSpPr/>
          <p:nvPr/>
        </p:nvSpPr>
        <p:spPr>
          <a:xfrm>
            <a:off x="571500" y="1273373"/>
            <a:ext cx="8001000"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4E68"/>
                </a:solidFill>
                <a:latin typeface="Inter" pitchFamily="34" charset="0"/>
                <a:ea typeface="Inter" pitchFamily="34" charset="-122"/>
                <a:cs typeface="Inter" pitchFamily="34" charset="-120"/>
              </a:rPr>
              <a:t>Occurs when multiple constructors are created to handle different combinations of optional parameters, leading to unreadable and fragile code.</a:t>
            </a:r>
            <a:endParaRPr lang="en-US" sz="834" dirty="0"/>
          </a:p>
        </p:txBody>
      </p:sp>
      <p:sp>
        <p:nvSpPr>
          <p:cNvPr id="9" name="Shape 5"/>
          <p:cNvSpPr/>
          <p:nvPr/>
        </p:nvSpPr>
        <p:spPr>
          <a:xfrm>
            <a:off x="571500" y="1501973"/>
            <a:ext cx="8001000" cy="557213"/>
          </a:xfrm>
          <a:prstGeom prst="rect">
            <a:avLst/>
          </a:prstGeom>
          <a:solidFill>
            <a:srgbClr val="F8F9FA"/>
          </a:solidFill>
          <a:ln/>
        </p:spPr>
      </p:sp>
      <p:sp>
        <p:nvSpPr>
          <p:cNvPr id="10" name="Shape 6"/>
          <p:cNvSpPr/>
          <p:nvPr/>
        </p:nvSpPr>
        <p:spPr>
          <a:xfrm>
            <a:off x="571500" y="1501973"/>
            <a:ext cx="28575" cy="557213"/>
          </a:xfrm>
          <a:prstGeom prst="rect">
            <a:avLst/>
          </a:prstGeom>
          <a:solidFill>
            <a:srgbClr val="CBD5E0"/>
          </a:solidFill>
          <a:ln/>
        </p:spPr>
      </p:sp>
      <p:sp>
        <p:nvSpPr>
          <p:cNvPr id="11" name="Text 7"/>
          <p:cNvSpPr/>
          <p:nvPr/>
        </p:nvSpPr>
        <p:spPr>
          <a:xfrm>
            <a:off x="571500" y="1501973"/>
            <a:ext cx="8001000" cy="557213"/>
          </a:xfrm>
          <a:prstGeom prst="rect">
            <a:avLst/>
          </a:prstGeom>
          <a:noFill/>
          <a:ln/>
        </p:spPr>
        <p:txBody>
          <a:bodyPr wrap="square" lIns="102108" tIns="102108" rIns="102108" bIns="102108" rtlCol="0" anchor="t">
            <a:spAutoFit/>
          </a:bodyPr>
          <a:lstStyle/>
          <a:p>
            <a:pPr marL="0" indent="0" algn="l">
              <a:lnSpc>
                <a:spcPts val="1100"/>
              </a:lnSpc>
              <a:buNone/>
            </a:pPr>
            <a:r>
              <a:rPr lang="en-US" sz="834" dirty="0">
                <a:solidFill>
                  <a:srgbClr val="102A43"/>
                </a:solidFill>
                <a:latin typeface="Courier New" pitchFamily="34" charset="0"/>
                <a:ea typeface="Courier New" pitchFamily="34" charset="-122"/>
                <a:cs typeface="Courier New" pitchFamily="34" charset="-120"/>
              </a:rPr>
              <a:t>Patient(id, name);
Patient(id, name, age);
Patient(id, name, age, diagnosis, bloodType, ...);</a:t>
            </a:r>
            <a:endParaRPr lang="en-US" sz="834" dirty="0"/>
          </a:p>
        </p:txBody>
      </p:sp>
      <p:sp>
        <p:nvSpPr>
          <p:cNvPr id="12" name="Shape 8"/>
          <p:cNvSpPr/>
          <p:nvPr/>
        </p:nvSpPr>
        <p:spPr>
          <a:xfrm>
            <a:off x="428625" y="2719983"/>
            <a:ext cx="8286750" cy="1728788"/>
          </a:xfrm>
          <a:prstGeom prst="rect">
            <a:avLst/>
          </a:prstGeom>
          <a:solidFill>
            <a:srgbClr val="FFFFFF"/>
          </a:solidFill>
          <a:ln w="9144">
            <a:solidFill>
              <a:srgbClr val="E2E8F0"/>
            </a:solidFill>
            <a:prstDash val="solid"/>
          </a:ln>
        </p:spPr>
      </p:sp>
      <p:pic>
        <p:nvPicPr>
          <p:cNvPr id="13" name="Image 2" descr="preencoded.png"/>
          <p:cNvPicPr>
            <a:picLocks noChangeAspect="1"/>
          </p:cNvPicPr>
          <p:nvPr/>
        </p:nvPicPr>
        <p:blipFill>
          <a:blip r:embed="rId5"/>
          <a:stretch>
            <a:fillRect/>
          </a:stretch>
        </p:blipFill>
        <p:spPr>
          <a:xfrm>
            <a:off x="571500" y="2875359"/>
            <a:ext cx="157163" cy="157163"/>
          </a:xfrm>
          <a:prstGeom prst="rect">
            <a:avLst/>
          </a:prstGeom>
        </p:spPr>
      </p:pic>
      <p:sp>
        <p:nvSpPr>
          <p:cNvPr id="14" name="Text 9"/>
          <p:cNvSpPr/>
          <p:nvPr/>
        </p:nvSpPr>
        <p:spPr>
          <a:xfrm>
            <a:off x="814388" y="2862858"/>
            <a:ext cx="2409788"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E7D32"/>
                </a:solidFill>
                <a:latin typeface="Inter" pitchFamily="34" charset="0"/>
                <a:ea typeface="Inter" pitchFamily="34" charset="-122"/>
                <a:cs typeface="Inter" pitchFamily="34" charset="-120"/>
              </a:rPr>
              <a:t>The Fit: Builder Pattern Solution</a:t>
            </a:r>
            <a:endParaRPr lang="en-US" sz="1090" dirty="0"/>
          </a:p>
        </p:txBody>
      </p:sp>
      <p:sp>
        <p:nvSpPr>
          <p:cNvPr id="15" name="Text 10"/>
          <p:cNvSpPr/>
          <p:nvPr/>
        </p:nvSpPr>
        <p:spPr>
          <a:xfrm>
            <a:off x="571500" y="3130748"/>
            <a:ext cx="8001000"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4E68"/>
                </a:solidFill>
                <a:latin typeface="Inter" pitchFamily="34" charset="0"/>
                <a:ea typeface="Inter" pitchFamily="34" charset="-122"/>
                <a:cs typeface="Inter" pitchFamily="34" charset="-120"/>
              </a:rPr>
              <a:t>Provides a step-by-step approach to building complex objects. It separates the construction logic, making it readable, maintainable, and less error-prone.</a:t>
            </a:r>
            <a:endParaRPr lang="en-US" sz="834" dirty="0"/>
          </a:p>
        </p:txBody>
      </p:sp>
      <p:sp>
        <p:nvSpPr>
          <p:cNvPr id="16" name="Shape 11"/>
          <p:cNvSpPr/>
          <p:nvPr/>
        </p:nvSpPr>
        <p:spPr>
          <a:xfrm>
            <a:off x="571500" y="3359348"/>
            <a:ext cx="8001000" cy="300038"/>
          </a:xfrm>
          <a:prstGeom prst="rect">
            <a:avLst/>
          </a:prstGeom>
          <a:solidFill>
            <a:srgbClr val="F8F9FA"/>
          </a:solidFill>
          <a:ln/>
        </p:spPr>
      </p:sp>
      <p:sp>
        <p:nvSpPr>
          <p:cNvPr id="17" name="Shape 12"/>
          <p:cNvSpPr/>
          <p:nvPr/>
        </p:nvSpPr>
        <p:spPr>
          <a:xfrm>
            <a:off x="571500" y="3359348"/>
            <a:ext cx="28575" cy="300038"/>
          </a:xfrm>
          <a:prstGeom prst="rect">
            <a:avLst/>
          </a:prstGeom>
          <a:solidFill>
            <a:srgbClr val="CBD5E0"/>
          </a:solidFill>
          <a:ln/>
        </p:spPr>
      </p:sp>
      <p:sp>
        <p:nvSpPr>
          <p:cNvPr id="18" name="Text 13"/>
          <p:cNvSpPr/>
          <p:nvPr/>
        </p:nvSpPr>
        <p:spPr>
          <a:xfrm>
            <a:off x="571500" y="3359348"/>
            <a:ext cx="8001000" cy="300038"/>
          </a:xfrm>
          <a:prstGeom prst="rect">
            <a:avLst/>
          </a:prstGeom>
          <a:noFill/>
          <a:ln/>
        </p:spPr>
        <p:txBody>
          <a:bodyPr wrap="square" lIns="102108" tIns="102108" rIns="102108" bIns="102108" rtlCol="0" anchor="t">
            <a:spAutoFit/>
          </a:bodyPr>
          <a:lstStyle/>
          <a:p>
            <a:pPr marL="0" indent="0" algn="l">
              <a:lnSpc>
                <a:spcPts val="1100"/>
              </a:lnSpc>
              <a:buNone/>
            </a:pPr>
            <a:r>
              <a:rPr lang="en-US" sz="834" dirty="0">
                <a:solidFill>
                  <a:srgbClr val="102A43"/>
                </a:solidFill>
                <a:latin typeface="Courier New" pitchFamily="34" charset="0"/>
                <a:ea typeface="Courier New" pitchFamily="34" charset="-122"/>
                <a:cs typeface="Courier New" pitchFamily="34" charset="-120"/>
              </a:rPr>
              <a:t>new PatientBuilder().setId(1).setName("John").setAge(30).build();</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Shape 0"/>
          <p:cNvSpPr/>
          <p:nvPr/>
        </p:nvSpPr>
        <p:spPr>
          <a:xfrm>
            <a:off x="0" y="-7144"/>
            <a:ext cx="9144000" cy="834033"/>
          </a:xfrm>
          <a:prstGeom prst="rect">
            <a:avLst/>
          </a:prstGeom>
          <a:solidFill>
            <a:srgbClr val="102A43"/>
          </a:solidFill>
          <a:ln/>
        </p:spPr>
      </p:sp>
      <p:sp>
        <p:nvSpPr>
          <p:cNvPr id="4" name="Text 1"/>
          <p:cNvSpPr/>
          <p:nvPr/>
        </p:nvSpPr>
        <p:spPr>
          <a:xfrm>
            <a:off x="428625" y="278606"/>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6. Design Principles: SRP &amp; Encapsulation</a:t>
            </a:r>
            <a:endParaRPr lang="en-US" sz="1602" dirty="0"/>
          </a:p>
        </p:txBody>
      </p:sp>
      <p:sp>
        <p:nvSpPr>
          <p:cNvPr id="5" name="Shape 2"/>
          <p:cNvSpPr/>
          <p:nvPr/>
        </p:nvSpPr>
        <p:spPr>
          <a:xfrm>
            <a:off x="285750" y="1084064"/>
            <a:ext cx="4186238" cy="3014663"/>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428625" y="1226939"/>
            <a:ext cx="285750" cy="285750"/>
          </a:xfrm>
          <a:prstGeom prst="rect">
            <a:avLst/>
          </a:prstGeom>
        </p:spPr>
      </p:pic>
      <p:sp>
        <p:nvSpPr>
          <p:cNvPr id="7" name="Text 3"/>
          <p:cNvSpPr/>
          <p:nvPr/>
        </p:nvSpPr>
        <p:spPr>
          <a:xfrm>
            <a:off x="828675" y="1271588"/>
            <a:ext cx="2248188" cy="196453"/>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02A43"/>
                </a:solidFill>
                <a:latin typeface="Inter" pitchFamily="34" charset="0"/>
                <a:ea typeface="Inter" pitchFamily="34" charset="-122"/>
                <a:cs typeface="Inter" pitchFamily="34" charset="-120"/>
              </a:rPr>
              <a:t>Single Responsibility (SRP)</a:t>
            </a:r>
            <a:endParaRPr lang="en-US" sz="1193" dirty="0"/>
          </a:p>
        </p:txBody>
      </p:sp>
      <p:sp>
        <p:nvSpPr>
          <p:cNvPr id="8" name="Text 4"/>
          <p:cNvSpPr/>
          <p:nvPr/>
        </p:nvSpPr>
        <p:spPr>
          <a:xfrm>
            <a:off x="428625" y="1734145"/>
            <a:ext cx="3900488" cy="1092910"/>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334E68"/>
                </a:solidFill>
                <a:latin typeface="Inter" pitchFamily="34" charset="0"/>
                <a:ea typeface="Inter" pitchFamily="34" charset="-122"/>
                <a:cs typeface="Inter" pitchFamily="34" charset="-120"/>
              </a:rPr>
              <a:t>Construction logic is moved out of the domain class (e.g., Patient) and into a dedicated </a:t>
            </a:r>
            <a:r>
              <a:rPr lang="en-US" sz="885" b="1" dirty="0">
                <a:solidFill>
                  <a:srgbClr val="334E68"/>
                </a:solidFill>
                <a:latin typeface="Inter" pitchFamily="34" charset="0"/>
                <a:ea typeface="Inter" pitchFamily="34" charset="-122"/>
                <a:cs typeface="Inter" pitchFamily="34" charset="-120"/>
              </a:rPr>
              <a:t>Builder class</a:t>
            </a:r>
            <a:r>
              <a:rPr lang="en-US" sz="942" dirty="0">
                <a:solidFill>
                  <a:srgbClr val="334E68"/>
                </a:solidFill>
                <a:latin typeface="Inter" pitchFamily="34" charset="0"/>
                <a:ea typeface="Inter" pitchFamily="34" charset="-122"/>
                <a:cs typeface="Inter" pitchFamily="34" charset="-120"/>
              </a:rPr>
              <a:t>. 
 This keeps the domain class focused solely on its primary data and business behavior.</a:t>
            </a:r>
            <a:endParaRPr lang="en-US" sz="942" dirty="0"/>
          </a:p>
        </p:txBody>
      </p:sp>
      <p:sp>
        <p:nvSpPr>
          <p:cNvPr id="9" name="Shape 5"/>
          <p:cNvSpPr/>
          <p:nvPr/>
        </p:nvSpPr>
        <p:spPr>
          <a:xfrm>
            <a:off x="428625" y="3652242"/>
            <a:ext cx="3900488" cy="303609"/>
          </a:xfrm>
          <a:prstGeom prst="rect">
            <a:avLst/>
          </a:prstGeom>
          <a:solidFill>
            <a:srgbClr val="EBF8FF"/>
          </a:solidFill>
          <a:ln/>
        </p:spPr>
      </p:sp>
      <p:sp>
        <p:nvSpPr>
          <p:cNvPr id="10" name="Shape 6"/>
          <p:cNvSpPr/>
          <p:nvPr/>
        </p:nvSpPr>
        <p:spPr>
          <a:xfrm>
            <a:off x="428625" y="3652242"/>
            <a:ext cx="28575" cy="303609"/>
          </a:xfrm>
          <a:prstGeom prst="rect">
            <a:avLst/>
          </a:prstGeom>
          <a:solidFill>
            <a:srgbClr val="17A2B8"/>
          </a:solidFill>
          <a:ln/>
        </p:spPr>
      </p:sp>
      <p:sp>
        <p:nvSpPr>
          <p:cNvPr id="11" name="Text 7"/>
          <p:cNvSpPr/>
          <p:nvPr/>
        </p:nvSpPr>
        <p:spPr>
          <a:xfrm>
            <a:off x="428625" y="3652242"/>
            <a:ext cx="3900488" cy="303609"/>
          </a:xfrm>
          <a:prstGeom prst="rect">
            <a:avLst/>
          </a:prstGeom>
          <a:noFill/>
          <a:ln/>
        </p:spPr>
        <p:txBody>
          <a:bodyPr wrap="square" lIns="102108" tIns="102108" rIns="102108" bIns="102108"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Result: Cleaner, more focused domain classes.</a:t>
            </a:r>
            <a:endParaRPr lang="en-US" sz="784" dirty="0"/>
          </a:p>
        </p:txBody>
      </p:sp>
      <p:sp>
        <p:nvSpPr>
          <p:cNvPr id="12" name="Shape 8"/>
          <p:cNvSpPr/>
          <p:nvPr/>
        </p:nvSpPr>
        <p:spPr>
          <a:xfrm>
            <a:off x="4672013" y="1084064"/>
            <a:ext cx="4186238" cy="3014663"/>
          </a:xfrm>
          <a:prstGeom prst="rect">
            <a:avLst/>
          </a:prstGeom>
          <a:solidFill>
            <a:srgbClr val="FFFFFF"/>
          </a:solidFill>
          <a:ln w="9144">
            <a:solidFill>
              <a:srgbClr val="E2E8F0"/>
            </a:solidFill>
            <a:prstDash val="solid"/>
          </a:ln>
        </p:spPr>
      </p:sp>
      <p:pic>
        <p:nvPicPr>
          <p:cNvPr id="13" name="Image 2" descr="preencoded.png"/>
          <p:cNvPicPr>
            <a:picLocks noChangeAspect="1"/>
          </p:cNvPicPr>
          <p:nvPr/>
        </p:nvPicPr>
        <p:blipFill>
          <a:blip r:embed="rId5"/>
          <a:stretch>
            <a:fillRect/>
          </a:stretch>
        </p:blipFill>
        <p:spPr>
          <a:xfrm>
            <a:off x="4814888" y="1226939"/>
            <a:ext cx="285750" cy="285750"/>
          </a:xfrm>
          <a:prstGeom prst="rect">
            <a:avLst/>
          </a:prstGeom>
        </p:spPr>
      </p:pic>
      <p:sp>
        <p:nvSpPr>
          <p:cNvPr id="14" name="Text 9"/>
          <p:cNvSpPr/>
          <p:nvPr/>
        </p:nvSpPr>
        <p:spPr>
          <a:xfrm>
            <a:off x="5214938" y="1271588"/>
            <a:ext cx="1171770" cy="196453"/>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02A43"/>
                </a:solidFill>
                <a:latin typeface="Inter" pitchFamily="34" charset="0"/>
                <a:ea typeface="Inter" pitchFamily="34" charset="-122"/>
                <a:cs typeface="Inter" pitchFamily="34" charset="-120"/>
              </a:rPr>
              <a:t>Encapsulation</a:t>
            </a:r>
            <a:endParaRPr lang="en-US" sz="1193" dirty="0"/>
          </a:p>
        </p:txBody>
      </p:sp>
      <p:sp>
        <p:nvSpPr>
          <p:cNvPr id="15" name="Text 10"/>
          <p:cNvSpPr/>
          <p:nvPr/>
        </p:nvSpPr>
        <p:spPr>
          <a:xfrm>
            <a:off x="4814888" y="1734145"/>
            <a:ext cx="3900488" cy="1092910"/>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334E68"/>
                </a:solidFill>
                <a:latin typeface="Inter" pitchFamily="34" charset="0"/>
                <a:ea typeface="Inter" pitchFamily="34" charset="-122"/>
                <a:cs typeface="Inter" pitchFamily="34" charset="-120"/>
              </a:rPr>
              <a:t>The internal representation of the product is hidden from the client. 
 Clients only interact with the Builder's interface, ensuring the assembly process is controlled and the final object is always in a </a:t>
            </a:r>
            <a:r>
              <a:rPr lang="en-US" sz="885" b="1" dirty="0">
                <a:solidFill>
                  <a:srgbClr val="334E68"/>
                </a:solidFill>
                <a:latin typeface="Inter" pitchFamily="34" charset="0"/>
                <a:ea typeface="Inter" pitchFamily="34" charset="-122"/>
                <a:cs typeface="Inter" pitchFamily="34" charset="-120"/>
              </a:rPr>
              <a:t>valid state</a:t>
            </a:r>
            <a:r>
              <a:rPr lang="en-US" sz="942" dirty="0">
                <a:solidFill>
                  <a:srgbClr val="334E68"/>
                </a:solidFill>
                <a:latin typeface="Inter" pitchFamily="34" charset="0"/>
                <a:ea typeface="Inter" pitchFamily="34" charset="-122"/>
                <a:cs typeface="Inter" pitchFamily="34" charset="-120"/>
              </a:rPr>
              <a:t> upon calling .build().</a:t>
            </a:r>
            <a:endParaRPr lang="en-US" sz="942" dirty="0"/>
          </a:p>
        </p:txBody>
      </p:sp>
      <p:sp>
        <p:nvSpPr>
          <p:cNvPr id="16" name="Shape 11"/>
          <p:cNvSpPr/>
          <p:nvPr/>
        </p:nvSpPr>
        <p:spPr>
          <a:xfrm>
            <a:off x="4814888" y="3637955"/>
            <a:ext cx="3900488" cy="303609"/>
          </a:xfrm>
          <a:prstGeom prst="rect">
            <a:avLst/>
          </a:prstGeom>
          <a:solidFill>
            <a:srgbClr val="EBF8FF"/>
          </a:solidFill>
          <a:ln/>
        </p:spPr>
      </p:sp>
      <p:sp>
        <p:nvSpPr>
          <p:cNvPr id="17" name="Shape 12"/>
          <p:cNvSpPr/>
          <p:nvPr/>
        </p:nvSpPr>
        <p:spPr>
          <a:xfrm>
            <a:off x="4814888" y="3637955"/>
            <a:ext cx="28575" cy="303609"/>
          </a:xfrm>
          <a:prstGeom prst="rect">
            <a:avLst/>
          </a:prstGeom>
          <a:solidFill>
            <a:srgbClr val="17A2B8"/>
          </a:solidFill>
          <a:ln/>
        </p:spPr>
      </p:sp>
      <p:sp>
        <p:nvSpPr>
          <p:cNvPr id="18" name="Text 13"/>
          <p:cNvSpPr/>
          <p:nvPr/>
        </p:nvSpPr>
        <p:spPr>
          <a:xfrm>
            <a:off x="4814888" y="3637955"/>
            <a:ext cx="3900488" cy="303609"/>
          </a:xfrm>
          <a:prstGeom prst="rect">
            <a:avLst/>
          </a:prstGeom>
          <a:noFill/>
          <a:ln/>
        </p:spPr>
        <p:txBody>
          <a:bodyPr wrap="square" lIns="102108" tIns="102108" rIns="102108" bIns="102108"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Result: Controlled construction &amp; guaranteed validity.</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7. Design Principles: OCP &amp; Immutability</a:t>
            </a:r>
            <a:endParaRPr lang="en-US" sz="1602" dirty="0"/>
          </a:p>
        </p:txBody>
      </p:sp>
      <p:sp>
        <p:nvSpPr>
          <p:cNvPr id="5" name="Shape 2"/>
          <p:cNvSpPr/>
          <p:nvPr/>
        </p:nvSpPr>
        <p:spPr>
          <a:xfrm>
            <a:off x="357188" y="1048345"/>
            <a:ext cx="4114800" cy="2928938"/>
          </a:xfrm>
          <a:prstGeom prst="rect">
            <a:avLst/>
          </a:prstGeom>
          <a:solidFill>
            <a:srgbClr val="FFFFFF"/>
          </a:solidFill>
          <a:ln w="9144">
            <a:solidFill>
              <a:srgbClr val="E2E8F0"/>
            </a:solidFill>
            <a:prstDash val="solid"/>
          </a:ln>
        </p:spPr>
      </p:sp>
      <p:pic>
        <p:nvPicPr>
          <p:cNvPr id="6" name="Image 1" descr="preencoded.png"/>
          <p:cNvPicPr>
            <a:picLocks noChangeAspect="1"/>
          </p:cNvPicPr>
          <p:nvPr/>
        </p:nvPicPr>
        <p:blipFill>
          <a:blip r:embed="rId4"/>
          <a:stretch>
            <a:fillRect/>
          </a:stretch>
        </p:blipFill>
        <p:spPr>
          <a:xfrm>
            <a:off x="528638" y="1219795"/>
            <a:ext cx="321469" cy="285750"/>
          </a:xfrm>
          <a:prstGeom prst="rect">
            <a:avLst/>
          </a:prstGeom>
        </p:spPr>
      </p:pic>
      <p:sp>
        <p:nvSpPr>
          <p:cNvPr id="7" name="Text 3"/>
          <p:cNvSpPr/>
          <p:nvPr/>
        </p:nvSpPr>
        <p:spPr>
          <a:xfrm>
            <a:off x="964406" y="1264444"/>
            <a:ext cx="1590768" cy="196453"/>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02A43"/>
                </a:solidFill>
                <a:latin typeface="Inter" pitchFamily="34" charset="0"/>
                <a:ea typeface="Inter" pitchFamily="34" charset="-122"/>
                <a:cs typeface="Inter" pitchFamily="34" charset="-120"/>
              </a:rPr>
              <a:t>Open/Closed (OCP)</a:t>
            </a:r>
            <a:endParaRPr lang="en-US" sz="1193" dirty="0"/>
          </a:p>
        </p:txBody>
      </p:sp>
      <p:sp>
        <p:nvSpPr>
          <p:cNvPr id="8" name="Text 4"/>
          <p:cNvSpPr/>
          <p:nvPr/>
        </p:nvSpPr>
        <p:spPr>
          <a:xfrm>
            <a:off x="528638" y="1698427"/>
            <a:ext cx="3771900" cy="874328"/>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334E68"/>
                </a:solidFill>
                <a:latin typeface="Inter" pitchFamily="34" charset="0"/>
                <a:ea typeface="Inter" pitchFamily="34" charset="-122"/>
                <a:cs typeface="Inter" pitchFamily="34" charset="-120"/>
              </a:rPr>
              <a:t>New types of builders can be introduced to create different variations of the product (e.g., EmergencyPatientBuilder). This is achieved </a:t>
            </a:r>
            <a:r>
              <a:rPr lang="en-US" sz="885" b="1" dirty="0">
                <a:solidFill>
                  <a:srgbClr val="334E68"/>
                </a:solidFill>
                <a:latin typeface="Inter" pitchFamily="34" charset="0"/>
                <a:ea typeface="Inter" pitchFamily="34" charset="-122"/>
                <a:cs typeface="Inter" pitchFamily="34" charset="-120"/>
              </a:rPr>
              <a:t>without modifying</a:t>
            </a:r>
            <a:r>
              <a:rPr lang="en-US" sz="942" dirty="0">
                <a:solidFill>
                  <a:srgbClr val="334E68"/>
                </a:solidFill>
                <a:latin typeface="Inter" pitchFamily="34" charset="0"/>
                <a:ea typeface="Inter" pitchFamily="34" charset="-122"/>
                <a:cs typeface="Inter" pitchFamily="34" charset="-120"/>
              </a:rPr>
              <a:t> the existing client code or the product class itself.</a:t>
            </a:r>
            <a:endParaRPr lang="en-US" sz="942" dirty="0"/>
          </a:p>
        </p:txBody>
      </p:sp>
      <p:sp>
        <p:nvSpPr>
          <p:cNvPr id="9" name="Shape 5"/>
          <p:cNvSpPr/>
          <p:nvPr/>
        </p:nvSpPr>
        <p:spPr>
          <a:xfrm>
            <a:off x="528638" y="3530798"/>
            <a:ext cx="3771900" cy="275034"/>
          </a:xfrm>
          <a:prstGeom prst="rect">
            <a:avLst/>
          </a:prstGeom>
          <a:solidFill>
            <a:srgbClr val="EBF8FF"/>
          </a:solidFill>
          <a:ln/>
        </p:spPr>
      </p:sp>
      <p:sp>
        <p:nvSpPr>
          <p:cNvPr id="10" name="Shape 6"/>
          <p:cNvSpPr/>
          <p:nvPr/>
        </p:nvSpPr>
        <p:spPr>
          <a:xfrm>
            <a:off x="528638" y="3530798"/>
            <a:ext cx="28575" cy="275034"/>
          </a:xfrm>
          <a:prstGeom prst="rect">
            <a:avLst/>
          </a:prstGeom>
          <a:solidFill>
            <a:srgbClr val="17A2B8"/>
          </a:solidFill>
          <a:ln/>
        </p:spPr>
      </p:sp>
      <p:sp>
        <p:nvSpPr>
          <p:cNvPr id="11" name="Text 7"/>
          <p:cNvSpPr/>
          <p:nvPr/>
        </p:nvSpPr>
        <p:spPr>
          <a:xfrm>
            <a:off x="528638" y="3530798"/>
            <a:ext cx="3771900" cy="275034"/>
          </a:xfrm>
          <a:prstGeom prst="rect">
            <a:avLst/>
          </a:prstGeom>
          <a:noFill/>
          <a:ln/>
        </p:spPr>
        <p:txBody>
          <a:bodyPr wrap="square" lIns="85090" tIns="85090" rIns="85090" bIns="85090"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Result: Extensible system without breaking existing code.</a:t>
            </a:r>
            <a:endParaRPr lang="en-US" sz="784" dirty="0"/>
          </a:p>
        </p:txBody>
      </p:sp>
      <p:sp>
        <p:nvSpPr>
          <p:cNvPr id="12" name="Shape 8"/>
          <p:cNvSpPr/>
          <p:nvPr/>
        </p:nvSpPr>
        <p:spPr>
          <a:xfrm>
            <a:off x="4672013" y="1048345"/>
            <a:ext cx="4114800" cy="2928938"/>
          </a:xfrm>
          <a:prstGeom prst="rect">
            <a:avLst/>
          </a:prstGeom>
          <a:solidFill>
            <a:srgbClr val="FFFFFF"/>
          </a:solidFill>
          <a:ln w="9144">
            <a:solidFill>
              <a:srgbClr val="E2E8F0"/>
            </a:solidFill>
            <a:prstDash val="solid"/>
          </a:ln>
        </p:spPr>
      </p:sp>
      <p:pic>
        <p:nvPicPr>
          <p:cNvPr id="13" name="Image 2" descr="preencoded.png"/>
          <p:cNvPicPr>
            <a:picLocks noChangeAspect="1"/>
          </p:cNvPicPr>
          <p:nvPr/>
        </p:nvPicPr>
        <p:blipFill>
          <a:blip r:embed="rId5"/>
          <a:stretch>
            <a:fillRect/>
          </a:stretch>
        </p:blipFill>
        <p:spPr>
          <a:xfrm>
            <a:off x="4843463" y="1219795"/>
            <a:ext cx="250031" cy="285750"/>
          </a:xfrm>
          <a:prstGeom prst="rect">
            <a:avLst/>
          </a:prstGeom>
        </p:spPr>
      </p:pic>
      <p:sp>
        <p:nvSpPr>
          <p:cNvPr id="14" name="Text 9"/>
          <p:cNvSpPr/>
          <p:nvPr/>
        </p:nvSpPr>
        <p:spPr>
          <a:xfrm>
            <a:off x="5207794" y="1264444"/>
            <a:ext cx="1009780" cy="196453"/>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02A43"/>
                </a:solidFill>
                <a:latin typeface="Inter" pitchFamily="34" charset="0"/>
                <a:ea typeface="Inter" pitchFamily="34" charset="-122"/>
                <a:cs typeface="Inter" pitchFamily="34" charset="-120"/>
              </a:rPr>
              <a:t>Immutability</a:t>
            </a:r>
            <a:endParaRPr lang="en-US" sz="1193" dirty="0"/>
          </a:p>
        </p:txBody>
      </p:sp>
      <p:sp>
        <p:nvSpPr>
          <p:cNvPr id="15" name="Text 10"/>
          <p:cNvSpPr/>
          <p:nvPr/>
        </p:nvSpPr>
        <p:spPr>
          <a:xfrm>
            <a:off x="4843463" y="1698427"/>
            <a:ext cx="3771900" cy="874328"/>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334E68"/>
                </a:solidFill>
                <a:latin typeface="Inter" pitchFamily="34" charset="0"/>
                <a:ea typeface="Inter" pitchFamily="34" charset="-122"/>
                <a:cs typeface="Inter" pitchFamily="34" charset="-120"/>
              </a:rPr>
              <a:t>The Builder pattern is an excellent way to create </a:t>
            </a:r>
            <a:r>
              <a:rPr lang="en-US" sz="885" b="1" dirty="0">
                <a:solidFill>
                  <a:srgbClr val="334E68"/>
                </a:solidFill>
                <a:latin typeface="Inter" pitchFamily="34" charset="0"/>
                <a:ea typeface="Inter" pitchFamily="34" charset="-122"/>
                <a:cs typeface="Inter" pitchFamily="34" charset="-120"/>
              </a:rPr>
              <a:t>immutable objects</a:t>
            </a:r>
            <a:r>
              <a:rPr lang="en-US" sz="942" dirty="0">
                <a:solidFill>
                  <a:srgbClr val="334E68"/>
                </a:solidFill>
                <a:latin typeface="Inter" pitchFamily="34" charset="0"/>
                <a:ea typeface="Inter" pitchFamily="34" charset="-122"/>
                <a:cs typeface="Inter" pitchFamily="34" charset="-120"/>
              </a:rPr>
              <a:t>. Since the object is only instantiated at the final step, fields can be made read-only once the object is built, preventing accidental state changes.</a:t>
            </a:r>
            <a:endParaRPr lang="en-US" sz="942" dirty="0"/>
          </a:p>
        </p:txBody>
      </p:sp>
      <p:sp>
        <p:nvSpPr>
          <p:cNvPr id="16" name="Shape 11"/>
          <p:cNvSpPr/>
          <p:nvPr/>
        </p:nvSpPr>
        <p:spPr>
          <a:xfrm>
            <a:off x="4843463" y="3516511"/>
            <a:ext cx="3771900" cy="275034"/>
          </a:xfrm>
          <a:prstGeom prst="rect">
            <a:avLst/>
          </a:prstGeom>
          <a:solidFill>
            <a:srgbClr val="EBF8FF"/>
          </a:solidFill>
          <a:ln/>
        </p:spPr>
      </p:sp>
      <p:sp>
        <p:nvSpPr>
          <p:cNvPr id="17" name="Shape 12"/>
          <p:cNvSpPr/>
          <p:nvPr/>
        </p:nvSpPr>
        <p:spPr>
          <a:xfrm>
            <a:off x="4843463" y="3516511"/>
            <a:ext cx="28575" cy="275034"/>
          </a:xfrm>
          <a:prstGeom prst="rect">
            <a:avLst/>
          </a:prstGeom>
          <a:solidFill>
            <a:srgbClr val="17A2B8"/>
          </a:solidFill>
          <a:ln/>
        </p:spPr>
      </p:sp>
      <p:sp>
        <p:nvSpPr>
          <p:cNvPr id="18" name="Text 13"/>
          <p:cNvSpPr/>
          <p:nvPr/>
        </p:nvSpPr>
        <p:spPr>
          <a:xfrm>
            <a:off x="4843463" y="3516511"/>
            <a:ext cx="3771900" cy="275034"/>
          </a:xfrm>
          <a:prstGeom prst="rect">
            <a:avLst/>
          </a:prstGeom>
          <a:noFill/>
          <a:ln/>
        </p:spPr>
        <p:txBody>
          <a:bodyPr wrap="square" lIns="85090" tIns="85090" rIns="85090" bIns="85090" rtlCol="0" anchor="t">
            <a:spAutoFit/>
          </a:bodyPr>
          <a:lstStyle/>
          <a:p>
            <a:pPr marL="0" indent="0" algn="l">
              <a:lnSpc>
                <a:spcPts val="1100"/>
              </a:lnSpc>
              <a:buNone/>
            </a:pPr>
            <a:r>
              <a:rPr lang="en-US" sz="784" b="1" dirty="0">
                <a:solidFill>
                  <a:srgbClr val="334E68"/>
                </a:solidFill>
                <a:latin typeface="Inter" pitchFamily="34" charset="0"/>
                <a:ea typeface="Inter" pitchFamily="34" charset="-122"/>
                <a:cs typeface="Inter" pitchFamily="34" charset="-120"/>
              </a:rPr>
              <a:t>Result: Thread-safe and robust data objects.</a:t>
            </a:r>
            <a:endParaRPr lang="en-US" sz="7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Shape 0"/>
          <p:cNvSpPr/>
          <p:nvPr/>
        </p:nvSpPr>
        <p:spPr>
          <a:xfrm>
            <a:off x="0" y="-7144"/>
            <a:ext cx="9144000" cy="834033"/>
          </a:xfrm>
          <a:prstGeom prst="rect">
            <a:avLst/>
          </a:prstGeom>
          <a:solidFill>
            <a:srgbClr val="102A43"/>
          </a:solidFill>
          <a:ln/>
        </p:spPr>
      </p:sp>
      <p:sp>
        <p:nvSpPr>
          <p:cNvPr id="4" name="Text 1"/>
          <p:cNvSpPr/>
          <p:nvPr/>
        </p:nvSpPr>
        <p:spPr>
          <a:xfrm>
            <a:off x="428625" y="278606"/>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8. Pattern Comparison: Factory vs. Builder</a:t>
            </a:r>
            <a:endParaRPr lang="en-US" sz="1602" dirty="0"/>
          </a:p>
        </p:txBody>
      </p:sp>
      <p:sp>
        <p:nvSpPr>
          <p:cNvPr id="5" name="Shape 2"/>
          <p:cNvSpPr/>
          <p:nvPr/>
        </p:nvSpPr>
        <p:spPr>
          <a:xfrm>
            <a:off x="457200" y="1112639"/>
            <a:ext cx="8229600" cy="1451967"/>
          </a:xfrm>
          <a:prstGeom prst="rect">
            <a:avLst/>
          </a:prstGeom>
          <a:solidFill>
            <a:srgbClr val="FFFFFF"/>
          </a:solidFill>
          <a:ln w="9144">
            <a:solidFill>
              <a:srgbClr val="E2E8F0"/>
            </a:solidFill>
            <a:prstDash val="solid"/>
          </a:ln>
        </p:spPr>
      </p:sp>
      <p:sp>
        <p:nvSpPr>
          <p:cNvPr id="6" name="Shape 3"/>
          <p:cNvSpPr/>
          <p:nvPr/>
        </p:nvSpPr>
        <p:spPr>
          <a:xfrm>
            <a:off x="457200" y="1112639"/>
            <a:ext cx="2057400" cy="383977"/>
          </a:xfrm>
          <a:prstGeom prst="rect">
            <a:avLst/>
          </a:prstGeom>
          <a:solidFill>
            <a:srgbClr val="007BFF"/>
          </a:solidFill>
          <a:ln/>
        </p:spPr>
      </p:sp>
      <p:sp>
        <p:nvSpPr>
          <p:cNvPr id="7" name="Text 4"/>
          <p:cNvSpPr/>
          <p:nvPr/>
        </p:nvSpPr>
        <p:spPr>
          <a:xfrm>
            <a:off x="457200" y="1112639"/>
            <a:ext cx="2057400" cy="383977"/>
          </a:xfrm>
          <a:prstGeom prst="rect">
            <a:avLst/>
          </a:prstGeom>
          <a:noFill/>
          <a:ln/>
        </p:spPr>
        <p:txBody>
          <a:bodyPr wrap="square" lIns="119126" tIns="119126" rIns="119126" bIns="119126" rtlCol="0" anchor="ctr">
            <a:spAutoFit/>
          </a:bodyPr>
          <a:lstStyle/>
          <a:p>
            <a:pPr marL="0" indent="0" algn="l">
              <a:lnSpc>
                <a:spcPts val="1500"/>
              </a:lnSpc>
              <a:buNone/>
            </a:pPr>
            <a:r>
              <a:rPr lang="en-US" sz="1090" b="1" dirty="0">
                <a:solidFill>
                  <a:srgbClr val="FFFFFF"/>
                </a:solidFill>
                <a:latin typeface="Inter" pitchFamily="34" charset="0"/>
                <a:ea typeface="Inter" pitchFamily="34" charset="-122"/>
                <a:cs typeface="Inter" pitchFamily="34" charset="-120"/>
              </a:rPr>
              <a:t>Feature</a:t>
            </a:r>
            <a:endParaRPr lang="en-US" sz="1090" dirty="0"/>
          </a:p>
        </p:txBody>
      </p:sp>
      <p:sp>
        <p:nvSpPr>
          <p:cNvPr id="8" name="Shape 5"/>
          <p:cNvSpPr/>
          <p:nvPr/>
        </p:nvSpPr>
        <p:spPr>
          <a:xfrm>
            <a:off x="2514600" y="1112639"/>
            <a:ext cx="2875555" cy="383977"/>
          </a:xfrm>
          <a:prstGeom prst="rect">
            <a:avLst/>
          </a:prstGeom>
          <a:solidFill>
            <a:srgbClr val="007BFF"/>
          </a:solidFill>
          <a:ln/>
        </p:spPr>
      </p:sp>
      <p:sp>
        <p:nvSpPr>
          <p:cNvPr id="9" name="Text 6"/>
          <p:cNvSpPr/>
          <p:nvPr/>
        </p:nvSpPr>
        <p:spPr>
          <a:xfrm>
            <a:off x="2514600" y="1112639"/>
            <a:ext cx="2875555" cy="383977"/>
          </a:xfrm>
          <a:prstGeom prst="rect">
            <a:avLst/>
          </a:prstGeom>
          <a:noFill/>
          <a:ln/>
        </p:spPr>
        <p:txBody>
          <a:bodyPr wrap="square" lIns="119126" tIns="119126" rIns="119126" bIns="119126" rtlCol="0" anchor="ctr">
            <a:spAutoFit/>
          </a:bodyPr>
          <a:lstStyle/>
          <a:p>
            <a:pPr marL="0" indent="0" algn="l">
              <a:lnSpc>
                <a:spcPts val="1500"/>
              </a:lnSpc>
              <a:buNone/>
            </a:pPr>
            <a:r>
              <a:rPr lang="en-US" sz="1090" b="1" dirty="0">
                <a:solidFill>
                  <a:srgbClr val="FFFFFF"/>
                </a:solidFill>
                <a:latin typeface="Inter" pitchFamily="34" charset="0"/>
                <a:ea typeface="Inter" pitchFamily="34" charset="-122"/>
                <a:cs typeface="Inter" pitchFamily="34" charset="-120"/>
              </a:rPr>
              <a:t>Factory Pattern</a:t>
            </a:r>
            <a:endParaRPr lang="en-US" sz="1090" dirty="0"/>
          </a:p>
        </p:txBody>
      </p:sp>
      <p:sp>
        <p:nvSpPr>
          <p:cNvPr id="10" name="Shape 7"/>
          <p:cNvSpPr/>
          <p:nvPr/>
        </p:nvSpPr>
        <p:spPr>
          <a:xfrm>
            <a:off x="5390155" y="1112639"/>
            <a:ext cx="3296645" cy="383977"/>
          </a:xfrm>
          <a:prstGeom prst="rect">
            <a:avLst/>
          </a:prstGeom>
          <a:solidFill>
            <a:srgbClr val="007BFF"/>
          </a:solidFill>
          <a:ln/>
        </p:spPr>
      </p:sp>
      <p:sp>
        <p:nvSpPr>
          <p:cNvPr id="11" name="Text 8"/>
          <p:cNvSpPr/>
          <p:nvPr/>
        </p:nvSpPr>
        <p:spPr>
          <a:xfrm>
            <a:off x="5390155" y="1112639"/>
            <a:ext cx="3296645" cy="383977"/>
          </a:xfrm>
          <a:prstGeom prst="rect">
            <a:avLst/>
          </a:prstGeom>
          <a:noFill/>
          <a:ln/>
        </p:spPr>
        <p:txBody>
          <a:bodyPr wrap="square" lIns="119126" tIns="119126" rIns="119126" bIns="119126" rtlCol="0" anchor="ctr">
            <a:spAutoFit/>
          </a:bodyPr>
          <a:lstStyle/>
          <a:p>
            <a:pPr marL="0" indent="0" algn="l">
              <a:lnSpc>
                <a:spcPts val="1500"/>
              </a:lnSpc>
              <a:buNone/>
            </a:pPr>
            <a:r>
              <a:rPr lang="en-US" sz="1090" b="1" dirty="0">
                <a:solidFill>
                  <a:srgbClr val="FFFFFF"/>
                </a:solidFill>
                <a:latin typeface="Inter" pitchFamily="34" charset="0"/>
                <a:ea typeface="Inter" pitchFamily="34" charset="-122"/>
                <a:cs typeface="Inter" pitchFamily="34" charset="-120"/>
              </a:rPr>
              <a:t>Builder Pattern ★</a:t>
            </a:r>
            <a:endParaRPr lang="en-US" sz="1090" dirty="0"/>
          </a:p>
        </p:txBody>
      </p:sp>
      <p:sp>
        <p:nvSpPr>
          <p:cNvPr id="12" name="Text 9"/>
          <p:cNvSpPr/>
          <p:nvPr/>
        </p:nvSpPr>
        <p:spPr>
          <a:xfrm>
            <a:off x="457200" y="1496616"/>
            <a:ext cx="2057400" cy="350044"/>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02A43"/>
                </a:solidFill>
                <a:latin typeface="Inter" pitchFamily="34" charset="0"/>
                <a:ea typeface="Inter" pitchFamily="34" charset="-122"/>
                <a:cs typeface="Inter" pitchFamily="34" charset="-120"/>
              </a:rPr>
              <a:t>Construction</a:t>
            </a:r>
            <a:endParaRPr lang="en-US" sz="885" dirty="0"/>
          </a:p>
        </p:txBody>
      </p:sp>
      <p:sp>
        <p:nvSpPr>
          <p:cNvPr id="13" name="Text 10"/>
          <p:cNvSpPr/>
          <p:nvPr/>
        </p:nvSpPr>
        <p:spPr>
          <a:xfrm>
            <a:off x="2514600" y="1496616"/>
            <a:ext cx="2875555" cy="350044"/>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Single-step call</a:t>
            </a:r>
            <a:endParaRPr lang="en-US" sz="942" dirty="0"/>
          </a:p>
        </p:txBody>
      </p:sp>
      <p:sp>
        <p:nvSpPr>
          <p:cNvPr id="14" name="Text 11"/>
          <p:cNvSpPr/>
          <p:nvPr/>
        </p:nvSpPr>
        <p:spPr>
          <a:xfrm>
            <a:off x="5390155" y="1496616"/>
            <a:ext cx="3296645" cy="350044"/>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Multi-step process</a:t>
            </a:r>
            <a:endParaRPr lang="en-US" sz="942" dirty="0"/>
          </a:p>
        </p:txBody>
      </p:sp>
      <p:sp>
        <p:nvSpPr>
          <p:cNvPr id="15" name="Shape 12"/>
          <p:cNvSpPr/>
          <p:nvPr/>
        </p:nvSpPr>
        <p:spPr>
          <a:xfrm>
            <a:off x="457200" y="1846659"/>
            <a:ext cx="8229600" cy="353616"/>
          </a:xfrm>
          <a:prstGeom prst="rect">
            <a:avLst/>
          </a:prstGeom>
          <a:solidFill>
            <a:srgbClr val="F8F9FA"/>
          </a:solidFill>
          <a:ln/>
        </p:spPr>
      </p:sp>
      <p:sp>
        <p:nvSpPr>
          <p:cNvPr id="16" name="Text 13"/>
          <p:cNvSpPr/>
          <p:nvPr/>
        </p:nvSpPr>
        <p:spPr>
          <a:xfrm>
            <a:off x="457200" y="1846659"/>
            <a:ext cx="2057400" cy="353616"/>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02A43"/>
                </a:solidFill>
                <a:latin typeface="Inter" pitchFamily="34" charset="0"/>
                <a:ea typeface="Inter" pitchFamily="34" charset="-122"/>
                <a:cs typeface="Inter" pitchFamily="34" charset="-120"/>
              </a:rPr>
              <a:t>Complexity</a:t>
            </a:r>
            <a:endParaRPr lang="en-US" sz="885" dirty="0"/>
          </a:p>
        </p:txBody>
      </p:sp>
      <p:sp>
        <p:nvSpPr>
          <p:cNvPr id="17" name="Text 14"/>
          <p:cNvSpPr/>
          <p:nvPr/>
        </p:nvSpPr>
        <p:spPr>
          <a:xfrm>
            <a:off x="2514600" y="1846659"/>
            <a:ext cx="2875555" cy="353616"/>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Simple object creation</a:t>
            </a:r>
            <a:endParaRPr lang="en-US" sz="942" dirty="0"/>
          </a:p>
        </p:txBody>
      </p:sp>
      <p:sp>
        <p:nvSpPr>
          <p:cNvPr id="18" name="Text 15"/>
          <p:cNvSpPr/>
          <p:nvPr/>
        </p:nvSpPr>
        <p:spPr>
          <a:xfrm>
            <a:off x="5390155" y="1846659"/>
            <a:ext cx="3296645" cy="353616"/>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High level of configuration</a:t>
            </a:r>
            <a:endParaRPr lang="en-US" sz="942" dirty="0"/>
          </a:p>
        </p:txBody>
      </p:sp>
      <p:sp>
        <p:nvSpPr>
          <p:cNvPr id="19" name="Text 16"/>
          <p:cNvSpPr/>
          <p:nvPr/>
        </p:nvSpPr>
        <p:spPr>
          <a:xfrm>
            <a:off x="457200" y="2200275"/>
            <a:ext cx="2057400" cy="353616"/>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02A43"/>
                </a:solidFill>
                <a:latin typeface="Inter" pitchFamily="34" charset="0"/>
                <a:ea typeface="Inter" pitchFamily="34" charset="-122"/>
                <a:cs typeface="Inter" pitchFamily="34" charset="-120"/>
              </a:rPr>
              <a:t>Flexibility</a:t>
            </a:r>
            <a:endParaRPr lang="en-US" sz="885" dirty="0"/>
          </a:p>
        </p:txBody>
      </p:sp>
      <p:sp>
        <p:nvSpPr>
          <p:cNvPr id="20" name="Text 17"/>
          <p:cNvSpPr/>
          <p:nvPr/>
        </p:nvSpPr>
        <p:spPr>
          <a:xfrm>
            <a:off x="2514600" y="2200275"/>
            <a:ext cx="2875555" cy="353616"/>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Fixed configurations</a:t>
            </a:r>
            <a:endParaRPr lang="en-US" sz="942" dirty="0"/>
          </a:p>
        </p:txBody>
      </p:sp>
      <p:sp>
        <p:nvSpPr>
          <p:cNvPr id="21" name="Text 18"/>
          <p:cNvSpPr/>
          <p:nvPr/>
        </p:nvSpPr>
        <p:spPr>
          <a:xfrm>
            <a:off x="5390155" y="2200275"/>
            <a:ext cx="3296645" cy="353616"/>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4E68"/>
                </a:solidFill>
                <a:latin typeface="Inter" pitchFamily="34" charset="0"/>
                <a:ea typeface="Inter" pitchFamily="34" charset="-122"/>
                <a:cs typeface="Inter" pitchFamily="34" charset="-120"/>
              </a:rPr>
              <a:t>Readable &amp; Maintainable</a:t>
            </a:r>
            <a:endParaRPr lang="en-US" sz="942" dirty="0"/>
          </a:p>
        </p:txBody>
      </p:sp>
      <p:sp>
        <p:nvSpPr>
          <p:cNvPr id="22" name="Shape 19"/>
          <p:cNvSpPr/>
          <p:nvPr/>
        </p:nvSpPr>
        <p:spPr>
          <a:xfrm>
            <a:off x="457200" y="2786063"/>
            <a:ext cx="8229600" cy="668610"/>
          </a:xfrm>
          <a:prstGeom prst="rect">
            <a:avLst/>
          </a:prstGeom>
          <a:solidFill>
            <a:srgbClr val="EBF8FF"/>
          </a:solidFill>
          <a:ln/>
        </p:spPr>
      </p:sp>
      <p:sp>
        <p:nvSpPr>
          <p:cNvPr id="23" name="Shape 20"/>
          <p:cNvSpPr/>
          <p:nvPr/>
        </p:nvSpPr>
        <p:spPr>
          <a:xfrm>
            <a:off x="457200" y="2786063"/>
            <a:ext cx="35719" cy="668610"/>
          </a:xfrm>
          <a:prstGeom prst="rect">
            <a:avLst/>
          </a:prstGeom>
          <a:solidFill>
            <a:srgbClr val="17A2B8"/>
          </a:solidFill>
          <a:ln/>
        </p:spPr>
      </p:sp>
      <p:sp>
        <p:nvSpPr>
          <p:cNvPr id="24" name="Text 21"/>
          <p:cNvSpPr/>
          <p:nvPr/>
        </p:nvSpPr>
        <p:spPr>
          <a:xfrm>
            <a:off x="585788" y="2914650"/>
            <a:ext cx="7972425" cy="411435"/>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102A43"/>
                </a:solidFill>
                <a:latin typeface="Inter" pitchFamily="34" charset="0"/>
                <a:ea typeface="Inter" pitchFamily="34" charset="-122"/>
                <a:cs typeface="Inter" pitchFamily="34" charset="-120"/>
              </a:rPr>
              <a:t>Key Difference:</a:t>
            </a:r>
            <a:r>
              <a:rPr lang="en-US" sz="942" dirty="0">
                <a:solidFill>
                  <a:srgbClr val="334E68"/>
                </a:solidFill>
                <a:latin typeface="Inter" pitchFamily="34" charset="0"/>
                <a:ea typeface="Inter" pitchFamily="34" charset="-122"/>
                <a:cs typeface="Inter" pitchFamily="34" charset="-120"/>
              </a:rPr>
              <a:t> Unlike the Factory Pattern, the </a:t>
            </a:r>
            <a:r>
              <a:rPr lang="en-US" sz="885" b="1" dirty="0">
                <a:solidFill>
                  <a:srgbClr val="102A43"/>
                </a:solidFill>
                <a:latin typeface="Inter" pitchFamily="34" charset="0"/>
                <a:ea typeface="Inter" pitchFamily="34" charset="-122"/>
                <a:cs typeface="Inter" pitchFamily="34" charset="-120"/>
              </a:rPr>
              <a:t>Builder Pattern</a:t>
            </a:r>
            <a:r>
              <a:rPr lang="en-US" sz="942" dirty="0">
                <a:solidFill>
                  <a:srgbClr val="334E68"/>
                </a:solidFill>
                <a:latin typeface="Inter" pitchFamily="34" charset="0"/>
                <a:ea typeface="Inter" pitchFamily="34" charset="-122"/>
                <a:cs typeface="Inter" pitchFamily="34" charset="-120"/>
              </a:rPr>
              <a:t> is essential when object creation involves a complex, multi-step process or requires high configuration flexibility (e.g., creating a Patient with many optional medical records).</a:t>
            </a:r>
            <a:endParaRPr lang="en-US" sz="94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9. UML Design: System Overview &amp; Diagram</a:t>
            </a:r>
            <a:endParaRPr lang="en-US" sz="1602" dirty="0"/>
          </a:p>
        </p:txBody>
      </p:sp>
      <p:sp>
        <p:nvSpPr>
          <p:cNvPr id="5" name="Shape 2"/>
          <p:cNvSpPr/>
          <p:nvPr/>
        </p:nvSpPr>
        <p:spPr>
          <a:xfrm>
            <a:off x="285750" y="935922"/>
            <a:ext cx="8572500" cy="834032"/>
          </a:xfrm>
          <a:prstGeom prst="rect">
            <a:avLst/>
          </a:prstGeom>
          <a:solidFill>
            <a:srgbClr val="FFFFFF"/>
          </a:solidFill>
          <a:ln w="9144">
            <a:solidFill>
              <a:srgbClr val="E2E8F0"/>
            </a:solidFill>
            <a:prstDash val="solid"/>
          </a:ln>
        </p:spPr>
      </p:sp>
      <p:sp>
        <p:nvSpPr>
          <p:cNvPr id="6" name="Text 3"/>
          <p:cNvSpPr/>
          <p:nvPr/>
        </p:nvSpPr>
        <p:spPr>
          <a:xfrm>
            <a:off x="400050" y="1119783"/>
            <a:ext cx="8343900" cy="246459"/>
          </a:xfrm>
          <a:prstGeom prst="rect">
            <a:avLst/>
          </a:prstGeom>
          <a:noFill/>
          <a:ln/>
        </p:spPr>
        <p:txBody>
          <a:bodyPr wrap="none" lIns="0" tIns="0" rIns="0" bIns="68072" rtlCol="0" anchor="t">
            <a:spAutoFit/>
          </a:bodyPr>
          <a:lstStyle/>
          <a:p>
            <a:pPr marL="0" indent="0" algn="l">
              <a:lnSpc>
                <a:spcPts val="1500"/>
              </a:lnSpc>
              <a:buNone/>
            </a:pPr>
            <a:r>
              <a:rPr lang="en-US" sz="1090" b="1" dirty="0">
                <a:solidFill>
                  <a:srgbClr val="007BFF"/>
                </a:solidFill>
                <a:latin typeface="Inter" pitchFamily="34" charset="0"/>
                <a:ea typeface="Inter" pitchFamily="34" charset="-122"/>
                <a:cs typeface="Inter" pitchFamily="34" charset="-120"/>
              </a:rPr>
              <a:t>System Overview</a:t>
            </a:r>
            <a:endParaRPr lang="en-US" sz="1090" dirty="0"/>
          </a:p>
        </p:txBody>
      </p:sp>
      <p:sp>
        <p:nvSpPr>
          <p:cNvPr id="7" name="Text 4"/>
          <p:cNvSpPr/>
          <p:nvPr/>
        </p:nvSpPr>
        <p:spPr>
          <a:xfrm>
            <a:off x="371475" y="1319070"/>
            <a:ext cx="8343900"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4E68"/>
                </a:solidFill>
                <a:latin typeface="Inter" pitchFamily="34" charset="0"/>
                <a:ea typeface="Inter" pitchFamily="34" charset="-122"/>
                <a:cs typeface="Inter" pitchFamily="34" charset="-120"/>
              </a:rPr>
              <a:t>The Hospital Management System's architecture is designed for modularity and scalability, separating responsibilities across various entities. Below is the comprehensive UML Class Diagram illustrating these relationships.</a:t>
            </a:r>
            <a:endParaRPr lang="en-US" sz="834" dirty="0"/>
          </a:p>
        </p:txBody>
      </p:sp>
      <p:sp>
        <p:nvSpPr>
          <p:cNvPr id="8" name="Shape 5"/>
          <p:cNvSpPr/>
          <p:nvPr/>
        </p:nvSpPr>
        <p:spPr>
          <a:xfrm>
            <a:off x="285750" y="2032006"/>
            <a:ext cx="8572500" cy="3000375"/>
          </a:xfrm>
          <a:prstGeom prst="rect">
            <a:avLst/>
          </a:prstGeom>
          <a:solidFill>
            <a:srgbClr val="FFFFFF"/>
          </a:solidFill>
          <a:ln w="9144">
            <a:solidFill>
              <a:srgbClr val="E2E8F0"/>
            </a:solidFill>
            <a:prstDash val="solid"/>
          </a:ln>
        </p:spPr>
      </p:sp>
      <p:pic>
        <p:nvPicPr>
          <p:cNvPr id="11" name="صورة 10">
            <a:extLst>
              <a:ext uri="{FF2B5EF4-FFF2-40B4-BE49-F238E27FC236}">
                <a16:creationId xmlns:a16="http://schemas.microsoft.com/office/drawing/2014/main" id="{98B7A8BA-88ED-448D-8652-FEC611409694}"/>
              </a:ext>
            </a:extLst>
          </p:cNvPr>
          <p:cNvPicPr>
            <a:picLocks noChangeAspect="1"/>
          </p:cNvPicPr>
          <p:nvPr/>
        </p:nvPicPr>
        <p:blipFill>
          <a:blip r:embed="rId4"/>
          <a:stretch>
            <a:fillRect/>
          </a:stretch>
        </p:blipFill>
        <p:spPr>
          <a:xfrm>
            <a:off x="285750" y="1769954"/>
            <a:ext cx="8572500" cy="32624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10. UML Design: Builder Classes &amp; Relationships</a:t>
            </a:r>
            <a:endParaRPr lang="en-US" sz="1602" dirty="0"/>
          </a:p>
        </p:txBody>
      </p:sp>
      <p:sp>
        <p:nvSpPr>
          <p:cNvPr id="5" name="Shape 2"/>
          <p:cNvSpPr/>
          <p:nvPr/>
        </p:nvSpPr>
        <p:spPr>
          <a:xfrm>
            <a:off x="285750" y="976908"/>
            <a:ext cx="2781291" cy="1471613"/>
          </a:xfrm>
          <a:prstGeom prst="rect">
            <a:avLst/>
          </a:prstGeom>
          <a:solidFill>
            <a:srgbClr val="FFFFFF"/>
          </a:solidFill>
          <a:ln w="9144">
            <a:solidFill>
              <a:srgbClr val="E2E8F0"/>
            </a:solidFill>
            <a:prstDash val="solid"/>
          </a:ln>
        </p:spPr>
      </p:sp>
      <p:sp>
        <p:nvSpPr>
          <p:cNvPr id="6" name="Text 3"/>
          <p:cNvSpPr/>
          <p:nvPr/>
        </p:nvSpPr>
        <p:spPr>
          <a:xfrm>
            <a:off x="371475" y="1062633"/>
            <a:ext cx="2609841" cy="189309"/>
          </a:xfrm>
          <a:prstGeom prst="rect">
            <a:avLst/>
          </a:prstGeom>
          <a:noFill/>
          <a:ln/>
        </p:spPr>
        <p:txBody>
          <a:bodyPr wrap="none" lIns="0" tIns="0" rIns="0" bIns="42545" rtlCol="0" anchor="t">
            <a:spAutoFit/>
          </a:bodyPr>
          <a:lstStyle/>
          <a:p>
            <a:pPr marL="0" indent="0" algn="l">
              <a:lnSpc>
                <a:spcPts val="1200"/>
              </a:lnSpc>
              <a:buNone/>
            </a:pPr>
            <a:r>
              <a:rPr lang="en-US" sz="885" b="1" dirty="0">
                <a:solidFill>
                  <a:srgbClr val="007BFF"/>
                </a:solidFill>
                <a:latin typeface="Inter" pitchFamily="34" charset="0"/>
                <a:ea typeface="Inter" pitchFamily="34" charset="-122"/>
                <a:cs typeface="Inter" pitchFamily="34" charset="-120"/>
              </a:rPr>
              <a:t>PatientBuilder</a:t>
            </a:r>
            <a:endParaRPr lang="en-US" sz="885" dirty="0"/>
          </a:p>
        </p:txBody>
      </p:sp>
      <p:sp>
        <p:nvSpPr>
          <p:cNvPr id="7" name="Text 4"/>
          <p:cNvSpPr/>
          <p:nvPr/>
        </p:nvSpPr>
        <p:spPr>
          <a:xfrm>
            <a:off x="371475" y="1309092"/>
            <a:ext cx="2609841"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334E68"/>
                </a:solidFill>
                <a:latin typeface="Inter" pitchFamily="34" charset="0"/>
                <a:ea typeface="Inter" pitchFamily="34" charset="-122"/>
                <a:cs typeface="Inter" pitchFamily="34" charset="-120"/>
              </a:rPr>
              <a:t>Interface defining steps: setName(), setAge(), setDiagnosis(), setContactInfo().</a:t>
            </a:r>
            <a:endParaRPr lang="en-US" sz="727" dirty="0"/>
          </a:p>
        </p:txBody>
      </p:sp>
      <p:sp>
        <p:nvSpPr>
          <p:cNvPr id="8" name="Shape 5"/>
          <p:cNvSpPr/>
          <p:nvPr/>
        </p:nvSpPr>
        <p:spPr>
          <a:xfrm>
            <a:off x="3181341" y="976908"/>
            <a:ext cx="2781291" cy="1471613"/>
          </a:xfrm>
          <a:prstGeom prst="rect">
            <a:avLst/>
          </a:prstGeom>
          <a:solidFill>
            <a:srgbClr val="FFFFFF"/>
          </a:solidFill>
          <a:ln w="9144">
            <a:solidFill>
              <a:srgbClr val="E2E8F0"/>
            </a:solidFill>
            <a:prstDash val="solid"/>
          </a:ln>
        </p:spPr>
      </p:sp>
      <p:sp>
        <p:nvSpPr>
          <p:cNvPr id="9" name="Text 6"/>
          <p:cNvSpPr/>
          <p:nvPr/>
        </p:nvSpPr>
        <p:spPr>
          <a:xfrm>
            <a:off x="3267066" y="1062633"/>
            <a:ext cx="2609841" cy="189309"/>
          </a:xfrm>
          <a:prstGeom prst="rect">
            <a:avLst/>
          </a:prstGeom>
          <a:noFill/>
          <a:ln/>
        </p:spPr>
        <p:txBody>
          <a:bodyPr wrap="none" lIns="0" tIns="0" rIns="0" bIns="42545" rtlCol="0" anchor="t">
            <a:spAutoFit/>
          </a:bodyPr>
          <a:lstStyle/>
          <a:p>
            <a:pPr marL="0" indent="0" algn="l">
              <a:lnSpc>
                <a:spcPts val="1200"/>
              </a:lnSpc>
              <a:buNone/>
            </a:pPr>
            <a:r>
              <a:rPr lang="en-US" sz="885" b="1" dirty="0">
                <a:solidFill>
                  <a:srgbClr val="007BFF"/>
                </a:solidFill>
                <a:latin typeface="Inter" pitchFamily="34" charset="0"/>
                <a:ea typeface="Inter" pitchFamily="34" charset="-122"/>
                <a:cs typeface="Inter" pitchFamily="34" charset="-120"/>
              </a:rPr>
              <a:t>Concrete Builder</a:t>
            </a:r>
            <a:endParaRPr lang="en-US" sz="885" dirty="0"/>
          </a:p>
        </p:txBody>
      </p:sp>
      <p:sp>
        <p:nvSpPr>
          <p:cNvPr id="10" name="Text 7"/>
          <p:cNvSpPr/>
          <p:nvPr/>
        </p:nvSpPr>
        <p:spPr>
          <a:xfrm>
            <a:off x="3267066" y="1309092"/>
            <a:ext cx="2609841"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334E68"/>
                </a:solidFill>
                <a:latin typeface="Inter" pitchFamily="34" charset="0"/>
                <a:ea typeface="Inter" pitchFamily="34" charset="-122"/>
                <a:cs typeface="Inter" pitchFamily="34" charset="-120"/>
              </a:rPr>
              <a:t>Implements the interface, constructs and assembles the Patient object step by step.</a:t>
            </a:r>
            <a:endParaRPr lang="en-US" sz="727" dirty="0"/>
          </a:p>
        </p:txBody>
      </p:sp>
      <p:sp>
        <p:nvSpPr>
          <p:cNvPr id="11" name="Shape 8"/>
          <p:cNvSpPr/>
          <p:nvPr/>
        </p:nvSpPr>
        <p:spPr>
          <a:xfrm>
            <a:off x="6076931" y="976908"/>
            <a:ext cx="2781319" cy="1471613"/>
          </a:xfrm>
          <a:prstGeom prst="rect">
            <a:avLst/>
          </a:prstGeom>
          <a:solidFill>
            <a:srgbClr val="FFFFFF"/>
          </a:solidFill>
          <a:ln w="9144">
            <a:solidFill>
              <a:srgbClr val="E2E8F0"/>
            </a:solidFill>
            <a:prstDash val="solid"/>
          </a:ln>
        </p:spPr>
      </p:sp>
      <p:sp>
        <p:nvSpPr>
          <p:cNvPr id="12" name="Text 9"/>
          <p:cNvSpPr/>
          <p:nvPr/>
        </p:nvSpPr>
        <p:spPr>
          <a:xfrm>
            <a:off x="6162656" y="1062633"/>
            <a:ext cx="2609869" cy="189309"/>
          </a:xfrm>
          <a:prstGeom prst="rect">
            <a:avLst/>
          </a:prstGeom>
          <a:noFill/>
          <a:ln/>
        </p:spPr>
        <p:txBody>
          <a:bodyPr wrap="none" lIns="0" tIns="0" rIns="0" bIns="42545" rtlCol="0" anchor="t">
            <a:spAutoFit/>
          </a:bodyPr>
          <a:lstStyle/>
          <a:p>
            <a:pPr marL="0" indent="0" algn="l">
              <a:lnSpc>
                <a:spcPts val="1200"/>
              </a:lnSpc>
              <a:buNone/>
            </a:pPr>
            <a:r>
              <a:rPr lang="en-US" sz="885" b="1" dirty="0">
                <a:solidFill>
                  <a:srgbClr val="007BFF"/>
                </a:solidFill>
                <a:latin typeface="Inter" pitchFamily="34" charset="0"/>
                <a:ea typeface="Inter" pitchFamily="34" charset="-122"/>
                <a:cs typeface="Inter" pitchFamily="34" charset="-120"/>
              </a:rPr>
              <a:t>Director</a:t>
            </a:r>
            <a:endParaRPr lang="en-US" sz="885" dirty="0"/>
          </a:p>
        </p:txBody>
      </p:sp>
      <p:sp>
        <p:nvSpPr>
          <p:cNvPr id="13" name="Text 10"/>
          <p:cNvSpPr/>
          <p:nvPr/>
        </p:nvSpPr>
        <p:spPr>
          <a:xfrm>
            <a:off x="6162656" y="1309092"/>
            <a:ext cx="2609869"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334E68"/>
                </a:solidFill>
                <a:latin typeface="Inter" pitchFamily="34" charset="0"/>
                <a:ea typeface="Inter" pitchFamily="34" charset="-122"/>
                <a:cs typeface="Inter" pitchFamily="34" charset="-120"/>
              </a:rPr>
              <a:t>Controls the building process and the order of steps for different patient types.</a:t>
            </a:r>
            <a:endParaRPr lang="en-US" sz="727" dirty="0"/>
          </a:p>
        </p:txBody>
      </p:sp>
      <p:sp>
        <p:nvSpPr>
          <p:cNvPr id="14" name="Shape 11"/>
          <p:cNvSpPr/>
          <p:nvPr/>
        </p:nvSpPr>
        <p:spPr>
          <a:xfrm>
            <a:off x="285750" y="2577108"/>
            <a:ext cx="8572500" cy="1230511"/>
          </a:xfrm>
          <a:prstGeom prst="rect">
            <a:avLst/>
          </a:prstGeom>
          <a:solidFill>
            <a:srgbClr val="FFFFFF"/>
          </a:solidFill>
          <a:ln w="9144">
            <a:solidFill>
              <a:srgbClr val="E2E8F0"/>
            </a:solidFill>
            <a:prstDash val="solid"/>
          </a:ln>
        </p:spPr>
      </p:sp>
      <p:sp>
        <p:nvSpPr>
          <p:cNvPr id="15" name="Shape 12"/>
          <p:cNvSpPr/>
          <p:nvPr/>
        </p:nvSpPr>
        <p:spPr>
          <a:xfrm>
            <a:off x="285750" y="2577108"/>
            <a:ext cx="1714500" cy="317897"/>
          </a:xfrm>
          <a:prstGeom prst="rect">
            <a:avLst/>
          </a:prstGeom>
          <a:solidFill>
            <a:srgbClr val="17A2B8"/>
          </a:solidFill>
          <a:ln/>
        </p:spPr>
      </p:sp>
      <p:sp>
        <p:nvSpPr>
          <p:cNvPr id="16" name="Text 13"/>
          <p:cNvSpPr/>
          <p:nvPr/>
        </p:nvSpPr>
        <p:spPr>
          <a:xfrm>
            <a:off x="285750" y="2577108"/>
            <a:ext cx="1714500" cy="317897"/>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FFFFFF"/>
                </a:solidFill>
                <a:latin typeface="Inter" pitchFamily="34" charset="0"/>
                <a:ea typeface="Inter" pitchFamily="34" charset="-122"/>
                <a:cs typeface="Inter" pitchFamily="34" charset="-120"/>
              </a:rPr>
              <a:t>Relationship</a:t>
            </a:r>
            <a:endParaRPr lang="en-US" sz="885" dirty="0"/>
          </a:p>
        </p:txBody>
      </p:sp>
      <p:sp>
        <p:nvSpPr>
          <p:cNvPr id="17" name="Shape 14"/>
          <p:cNvSpPr/>
          <p:nvPr/>
        </p:nvSpPr>
        <p:spPr>
          <a:xfrm>
            <a:off x="2000250" y="2577108"/>
            <a:ext cx="6858000" cy="317897"/>
          </a:xfrm>
          <a:prstGeom prst="rect">
            <a:avLst/>
          </a:prstGeom>
          <a:solidFill>
            <a:srgbClr val="17A2B8"/>
          </a:solidFill>
          <a:ln/>
        </p:spPr>
      </p:sp>
      <p:sp>
        <p:nvSpPr>
          <p:cNvPr id="18" name="Text 15"/>
          <p:cNvSpPr/>
          <p:nvPr/>
        </p:nvSpPr>
        <p:spPr>
          <a:xfrm>
            <a:off x="2000250" y="2577108"/>
            <a:ext cx="6858000" cy="317897"/>
          </a:xfrm>
          <a:prstGeom prst="rect">
            <a:avLst/>
          </a:prstGeom>
          <a:noFill/>
          <a:ln/>
        </p:spPr>
        <p:txBody>
          <a:bodyPr wrap="square" lIns="102108" tIns="102108" rIns="102108" bIns="102108" rtlCol="0" anchor="ctr">
            <a:spAutoFit/>
          </a:bodyPr>
          <a:lstStyle/>
          <a:p>
            <a:pPr marL="0" indent="0" algn="l">
              <a:lnSpc>
                <a:spcPts val="1200"/>
              </a:lnSpc>
              <a:buNone/>
            </a:pPr>
            <a:r>
              <a:rPr lang="en-US" sz="885" b="1" dirty="0">
                <a:solidFill>
                  <a:srgbClr val="FFFFFF"/>
                </a:solidFill>
                <a:latin typeface="Inter" pitchFamily="34" charset="0"/>
                <a:ea typeface="Inter" pitchFamily="34" charset="-122"/>
                <a:cs typeface="Inter" pitchFamily="34" charset="-120"/>
              </a:rPr>
              <a:t>Description</a:t>
            </a:r>
            <a:endParaRPr lang="en-US" sz="885" dirty="0"/>
          </a:p>
        </p:txBody>
      </p:sp>
      <p:sp>
        <p:nvSpPr>
          <p:cNvPr id="19" name="Text 16"/>
          <p:cNvSpPr/>
          <p:nvPr/>
        </p:nvSpPr>
        <p:spPr>
          <a:xfrm>
            <a:off x="285750" y="2895005"/>
            <a:ext cx="1714500" cy="298252"/>
          </a:xfrm>
          <a:prstGeom prst="rect">
            <a:avLst/>
          </a:prstGeom>
          <a:noFill/>
          <a:ln/>
        </p:spPr>
        <p:txBody>
          <a:bodyPr wrap="square" lIns="102108" tIns="102108" rIns="102108" bIns="102108" rtlCol="0" anchor="ctr">
            <a:spAutoFit/>
          </a:bodyPr>
          <a:lstStyle/>
          <a:p>
            <a:pPr marL="0" indent="0" algn="l">
              <a:lnSpc>
                <a:spcPts val="1000"/>
              </a:lnSpc>
              <a:buNone/>
            </a:pPr>
            <a:r>
              <a:rPr lang="en-US" sz="734" b="1" dirty="0">
                <a:solidFill>
                  <a:srgbClr val="102A43"/>
                </a:solidFill>
                <a:latin typeface="Inter" pitchFamily="34" charset="0"/>
                <a:ea typeface="Inter" pitchFamily="34" charset="-122"/>
                <a:cs typeface="Inter" pitchFamily="34" charset="-120"/>
              </a:rPr>
              <a:t>Association</a:t>
            </a:r>
            <a:endParaRPr lang="en-US" sz="734" dirty="0"/>
          </a:p>
        </p:txBody>
      </p:sp>
      <p:sp>
        <p:nvSpPr>
          <p:cNvPr id="20" name="Text 17"/>
          <p:cNvSpPr/>
          <p:nvPr/>
        </p:nvSpPr>
        <p:spPr>
          <a:xfrm>
            <a:off x="2000250" y="2895005"/>
            <a:ext cx="6858000" cy="298252"/>
          </a:xfrm>
          <a:prstGeom prst="rect">
            <a:avLst/>
          </a:prstGeom>
          <a:noFill/>
          <a:ln/>
        </p:spPr>
        <p:txBody>
          <a:bodyPr wrap="square" lIns="102108" tIns="102108" rIns="102108" bIns="102108" rtlCol="0" anchor="ctr">
            <a:spAutoFit/>
          </a:bodyPr>
          <a:lstStyle/>
          <a:p>
            <a:pPr marL="0" indent="0" algn="l">
              <a:lnSpc>
                <a:spcPts val="1000"/>
              </a:lnSpc>
              <a:buNone/>
            </a:pPr>
            <a:r>
              <a:rPr lang="en-US" sz="780" dirty="0">
                <a:solidFill>
                  <a:srgbClr val="334E68"/>
                </a:solidFill>
                <a:latin typeface="Inter" pitchFamily="34" charset="0"/>
                <a:ea typeface="Inter" pitchFamily="34" charset="-122"/>
                <a:cs typeface="Inter" pitchFamily="34" charset="-120"/>
              </a:rPr>
              <a:t>Patient is associated with Doctor and Nurse. Appointment links Patient and Doctor.</a:t>
            </a:r>
            <a:endParaRPr lang="en-US" sz="780" dirty="0"/>
          </a:p>
        </p:txBody>
      </p:sp>
      <p:sp>
        <p:nvSpPr>
          <p:cNvPr id="21" name="Text 18"/>
          <p:cNvSpPr/>
          <p:nvPr/>
        </p:nvSpPr>
        <p:spPr>
          <a:xfrm>
            <a:off x="285750" y="3193256"/>
            <a:ext cx="1714500" cy="301823"/>
          </a:xfrm>
          <a:prstGeom prst="rect">
            <a:avLst/>
          </a:prstGeom>
          <a:noFill/>
          <a:ln/>
        </p:spPr>
        <p:txBody>
          <a:bodyPr wrap="square" lIns="102108" tIns="102108" rIns="102108" bIns="102108" rtlCol="0" anchor="ctr">
            <a:spAutoFit/>
          </a:bodyPr>
          <a:lstStyle/>
          <a:p>
            <a:pPr marL="0" indent="0" algn="l">
              <a:lnSpc>
                <a:spcPts val="1000"/>
              </a:lnSpc>
              <a:buNone/>
            </a:pPr>
            <a:r>
              <a:rPr lang="en-US" sz="734" b="1" dirty="0">
                <a:solidFill>
                  <a:srgbClr val="102A43"/>
                </a:solidFill>
                <a:latin typeface="Inter" pitchFamily="34" charset="0"/>
                <a:ea typeface="Inter" pitchFamily="34" charset="-122"/>
                <a:cs typeface="Inter" pitchFamily="34" charset="-120"/>
              </a:rPr>
              <a:t>Dependency</a:t>
            </a:r>
            <a:endParaRPr lang="en-US" sz="734" dirty="0"/>
          </a:p>
        </p:txBody>
      </p:sp>
      <p:sp>
        <p:nvSpPr>
          <p:cNvPr id="22" name="Text 19"/>
          <p:cNvSpPr/>
          <p:nvPr/>
        </p:nvSpPr>
        <p:spPr>
          <a:xfrm>
            <a:off x="2000250" y="3193256"/>
            <a:ext cx="6858000" cy="301823"/>
          </a:xfrm>
          <a:prstGeom prst="rect">
            <a:avLst/>
          </a:prstGeom>
          <a:noFill/>
          <a:ln/>
        </p:spPr>
        <p:txBody>
          <a:bodyPr wrap="square" lIns="102108" tIns="102108" rIns="102108" bIns="102108" rtlCol="0" anchor="ctr">
            <a:spAutoFit/>
          </a:bodyPr>
          <a:lstStyle/>
          <a:p>
            <a:pPr marL="0" indent="0" algn="l">
              <a:lnSpc>
                <a:spcPts val="1000"/>
              </a:lnSpc>
              <a:buNone/>
            </a:pPr>
            <a:r>
              <a:rPr lang="en-US" sz="780" dirty="0">
                <a:solidFill>
                  <a:srgbClr val="334E68"/>
                </a:solidFill>
                <a:latin typeface="Inter" pitchFamily="34" charset="0"/>
                <a:ea typeface="Inter" pitchFamily="34" charset="-122"/>
                <a:cs typeface="Inter" pitchFamily="34" charset="-120"/>
              </a:rPr>
              <a:t>HospitalSystem depends on Patient, Doctor, and other classes to perform operations.</a:t>
            </a:r>
            <a:endParaRPr lang="en-US" sz="780" dirty="0"/>
          </a:p>
        </p:txBody>
      </p:sp>
      <p:sp>
        <p:nvSpPr>
          <p:cNvPr id="23" name="Text 20"/>
          <p:cNvSpPr/>
          <p:nvPr/>
        </p:nvSpPr>
        <p:spPr>
          <a:xfrm>
            <a:off x="285750" y="3495080"/>
            <a:ext cx="1714500" cy="298252"/>
          </a:xfrm>
          <a:prstGeom prst="rect">
            <a:avLst/>
          </a:prstGeom>
          <a:noFill/>
          <a:ln/>
        </p:spPr>
        <p:txBody>
          <a:bodyPr wrap="square" lIns="102108" tIns="102108" rIns="102108" bIns="102108" rtlCol="0" anchor="ctr">
            <a:spAutoFit/>
          </a:bodyPr>
          <a:lstStyle/>
          <a:p>
            <a:pPr marL="0" indent="0" algn="l">
              <a:lnSpc>
                <a:spcPts val="1000"/>
              </a:lnSpc>
              <a:buNone/>
            </a:pPr>
            <a:r>
              <a:rPr lang="en-US" sz="734" b="1" dirty="0">
                <a:solidFill>
                  <a:srgbClr val="102A43"/>
                </a:solidFill>
                <a:latin typeface="Inter" pitchFamily="34" charset="0"/>
                <a:ea typeface="Inter" pitchFamily="34" charset="-122"/>
                <a:cs typeface="Inter" pitchFamily="34" charset="-120"/>
              </a:rPr>
              <a:t>Builder</a:t>
            </a:r>
            <a:endParaRPr lang="en-US" sz="734" dirty="0"/>
          </a:p>
        </p:txBody>
      </p:sp>
      <p:sp>
        <p:nvSpPr>
          <p:cNvPr id="24" name="Text 21"/>
          <p:cNvSpPr/>
          <p:nvPr/>
        </p:nvSpPr>
        <p:spPr>
          <a:xfrm>
            <a:off x="2000250" y="3495080"/>
            <a:ext cx="6858000" cy="298252"/>
          </a:xfrm>
          <a:prstGeom prst="rect">
            <a:avLst/>
          </a:prstGeom>
          <a:noFill/>
          <a:ln/>
        </p:spPr>
        <p:txBody>
          <a:bodyPr wrap="square" lIns="102108" tIns="102108" rIns="102108" bIns="102108" rtlCol="0" anchor="ctr">
            <a:spAutoFit/>
          </a:bodyPr>
          <a:lstStyle/>
          <a:p>
            <a:pPr marL="0" indent="0" algn="l">
              <a:lnSpc>
                <a:spcPts val="1000"/>
              </a:lnSpc>
              <a:buNone/>
            </a:pPr>
            <a:r>
              <a:rPr lang="en-US" sz="780" dirty="0">
                <a:solidFill>
                  <a:srgbClr val="334E68"/>
                </a:solidFill>
                <a:latin typeface="Inter" pitchFamily="34" charset="0"/>
                <a:ea typeface="Inter" pitchFamily="34" charset="-122"/>
                <a:cs typeface="Inter" pitchFamily="34" charset="-120"/>
              </a:rPr>
              <a:t>Director uses Builder to construct Patient. Builder creates and returns a Patient object.</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834033"/>
          </a:xfrm>
          <a:prstGeom prst="rect">
            <a:avLst/>
          </a:prstGeom>
          <a:solidFill>
            <a:srgbClr val="102A43"/>
          </a:solidFill>
          <a:ln/>
        </p:spPr>
      </p:sp>
      <p:sp>
        <p:nvSpPr>
          <p:cNvPr id="4" name="Text 1"/>
          <p:cNvSpPr/>
          <p:nvPr/>
        </p:nvSpPr>
        <p:spPr>
          <a:xfrm>
            <a:off x="428625" y="285750"/>
            <a:ext cx="82867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11. Application Summary &amp; Conclusion</a:t>
            </a:r>
            <a:endParaRPr lang="en-US" sz="1602" dirty="0"/>
          </a:p>
        </p:txBody>
      </p:sp>
      <p:sp>
        <p:nvSpPr>
          <p:cNvPr id="5" name="Shape 2"/>
          <p:cNvSpPr/>
          <p:nvPr/>
        </p:nvSpPr>
        <p:spPr>
          <a:xfrm>
            <a:off x="428625" y="976908"/>
            <a:ext cx="8286750" cy="969373"/>
          </a:xfrm>
          <a:prstGeom prst="rect">
            <a:avLst/>
          </a:prstGeom>
          <a:solidFill>
            <a:srgbClr val="FFFFFF"/>
          </a:solidFill>
          <a:ln w="9144">
            <a:solidFill>
              <a:srgbClr val="E2E8F0"/>
            </a:solidFill>
            <a:prstDash val="solid"/>
          </a:ln>
        </p:spPr>
      </p:sp>
      <p:sp>
        <p:nvSpPr>
          <p:cNvPr id="6" name="Text 3"/>
          <p:cNvSpPr/>
          <p:nvPr/>
        </p:nvSpPr>
        <p:spPr>
          <a:xfrm>
            <a:off x="557213" y="1105495"/>
            <a:ext cx="8029575" cy="246459"/>
          </a:xfrm>
          <a:prstGeom prst="rect">
            <a:avLst/>
          </a:prstGeom>
          <a:noFill/>
          <a:ln/>
        </p:spPr>
        <p:txBody>
          <a:bodyPr wrap="none" lIns="0" tIns="0" rIns="0" bIns="68072" rtlCol="0" anchor="t">
            <a:spAutoFit/>
          </a:bodyPr>
          <a:lstStyle/>
          <a:p>
            <a:pPr marL="0" indent="0" algn="l">
              <a:lnSpc>
                <a:spcPts val="1500"/>
              </a:lnSpc>
              <a:buNone/>
            </a:pPr>
            <a:r>
              <a:rPr lang="en-US" sz="1090" b="1" dirty="0">
                <a:solidFill>
                  <a:srgbClr val="007BFF"/>
                </a:solidFill>
                <a:latin typeface="Inter" pitchFamily="34" charset="0"/>
                <a:ea typeface="Inter" pitchFamily="34" charset="-122"/>
                <a:cs typeface="Inter" pitchFamily="34" charset="-120"/>
              </a:rPr>
              <a:t>Application of Builder Pattern</a:t>
            </a:r>
            <a:endParaRPr lang="en-US" sz="1090" dirty="0"/>
          </a:p>
        </p:txBody>
      </p:sp>
      <p:sp>
        <p:nvSpPr>
          <p:cNvPr id="7" name="Text 4"/>
          <p:cNvSpPr/>
          <p:nvPr/>
        </p:nvSpPr>
        <p:spPr>
          <a:xfrm>
            <a:off x="557213" y="1437680"/>
            <a:ext cx="8029575"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4E68"/>
                </a:solidFill>
                <a:latin typeface="Inter" pitchFamily="34" charset="0"/>
                <a:ea typeface="Inter" pitchFamily="34" charset="-122"/>
                <a:cs typeface="Inter" pitchFamily="34" charset="-120"/>
              </a:rPr>
              <a:t>The Builder Pattern is applied to handle the construction of complex objects like </a:t>
            </a:r>
            <a:r>
              <a:rPr lang="en-US" sz="784" b="1" dirty="0">
                <a:solidFill>
                  <a:srgbClr val="334E68"/>
                </a:solidFill>
                <a:latin typeface="Inter" pitchFamily="34" charset="0"/>
                <a:ea typeface="Inter" pitchFamily="34" charset="-122"/>
                <a:cs typeface="Inter" pitchFamily="34" charset="-120"/>
              </a:rPr>
              <a:t>Patient</a:t>
            </a:r>
            <a:r>
              <a:rPr lang="en-US" sz="834" dirty="0">
                <a:solidFill>
                  <a:srgbClr val="334E68"/>
                </a:solidFill>
                <a:latin typeface="Inter" pitchFamily="34" charset="0"/>
                <a:ea typeface="Inter" pitchFamily="34" charset="-122"/>
                <a:cs typeface="Inter" pitchFamily="34" charset="-120"/>
              </a:rPr>
              <a:t> and related records. Instead of using large constructors, the system uses a step-by-step approach via a </a:t>
            </a:r>
            <a:r>
              <a:rPr lang="en-US" sz="784" b="1" dirty="0">
                <a:solidFill>
                  <a:srgbClr val="334E68"/>
                </a:solidFill>
                <a:latin typeface="Inter" pitchFamily="34" charset="0"/>
                <a:ea typeface="Inter" pitchFamily="34" charset="-122"/>
                <a:cs typeface="Inter" pitchFamily="34" charset="-120"/>
              </a:rPr>
              <a:t>Builder Interface</a:t>
            </a:r>
            <a:r>
              <a:rPr lang="en-US" sz="834" dirty="0">
                <a:solidFill>
                  <a:srgbClr val="334E68"/>
                </a:solidFill>
                <a:latin typeface="Inter" pitchFamily="34" charset="0"/>
                <a:ea typeface="Inter" pitchFamily="34" charset="-122"/>
                <a:cs typeface="Inter" pitchFamily="34" charset="-120"/>
              </a:rPr>
              <a:t>, </a:t>
            </a:r>
            <a:r>
              <a:rPr lang="en-US" sz="784" b="1" dirty="0">
                <a:solidFill>
                  <a:srgbClr val="334E68"/>
                </a:solidFill>
                <a:latin typeface="Inter" pitchFamily="34" charset="0"/>
                <a:ea typeface="Inter" pitchFamily="34" charset="-122"/>
                <a:cs typeface="Inter" pitchFamily="34" charset="-120"/>
              </a:rPr>
              <a:t>Concrete Builder</a:t>
            </a:r>
            <a:r>
              <a:rPr lang="en-US" sz="834" dirty="0">
                <a:solidFill>
                  <a:srgbClr val="334E68"/>
                </a:solidFill>
                <a:latin typeface="Inter" pitchFamily="34" charset="0"/>
                <a:ea typeface="Inter" pitchFamily="34" charset="-122"/>
                <a:cs typeface="Inter" pitchFamily="34" charset="-120"/>
              </a:rPr>
              <a:t>, and </a:t>
            </a:r>
            <a:r>
              <a:rPr lang="en-US" sz="784" b="1" dirty="0">
                <a:solidFill>
                  <a:srgbClr val="334E68"/>
                </a:solidFill>
                <a:latin typeface="Inter" pitchFamily="34" charset="0"/>
                <a:ea typeface="Inter" pitchFamily="34" charset="-122"/>
                <a:cs typeface="Inter" pitchFamily="34" charset="-120"/>
              </a:rPr>
              <a:t>Director</a:t>
            </a:r>
            <a:r>
              <a:rPr lang="en-US" sz="834" dirty="0">
                <a:solidFill>
                  <a:srgbClr val="334E68"/>
                </a:solidFill>
                <a:latin typeface="Inter" pitchFamily="34" charset="0"/>
                <a:ea typeface="Inter" pitchFamily="34" charset="-122"/>
                <a:cs typeface="Inter" pitchFamily="34" charset="-120"/>
              </a:rPr>
              <a:t>.</a:t>
            </a:r>
            <a:endParaRPr lang="en-US" sz="834" dirty="0"/>
          </a:p>
        </p:txBody>
      </p:sp>
      <p:sp>
        <p:nvSpPr>
          <p:cNvPr id="8" name="Shape 5"/>
          <p:cNvSpPr/>
          <p:nvPr/>
        </p:nvSpPr>
        <p:spPr>
          <a:xfrm>
            <a:off x="428625" y="2046294"/>
            <a:ext cx="2705081" cy="1528763"/>
          </a:xfrm>
          <a:prstGeom prst="rect">
            <a:avLst/>
          </a:prstGeom>
          <a:solidFill>
            <a:srgbClr val="FFFFFF"/>
          </a:solidFill>
          <a:ln w="9144">
            <a:solidFill>
              <a:srgbClr val="E2E8F0"/>
            </a:solidFill>
            <a:prstDash val="solid"/>
          </a:ln>
        </p:spPr>
      </p:sp>
      <p:pic>
        <p:nvPicPr>
          <p:cNvPr id="9" name="Image 1" descr="preencoded.png"/>
          <p:cNvPicPr>
            <a:picLocks noChangeAspect="1"/>
          </p:cNvPicPr>
          <p:nvPr/>
        </p:nvPicPr>
        <p:blipFill>
          <a:blip r:embed="rId4"/>
          <a:stretch>
            <a:fillRect/>
          </a:stretch>
        </p:blipFill>
        <p:spPr>
          <a:xfrm>
            <a:off x="1602572" y="2160594"/>
            <a:ext cx="357188" cy="285750"/>
          </a:xfrm>
          <a:prstGeom prst="rect">
            <a:avLst/>
          </a:prstGeom>
        </p:spPr>
      </p:pic>
      <p:sp>
        <p:nvSpPr>
          <p:cNvPr id="10" name="Text 6"/>
          <p:cNvSpPr/>
          <p:nvPr/>
        </p:nvSpPr>
        <p:spPr>
          <a:xfrm>
            <a:off x="1366689" y="2532069"/>
            <a:ext cx="828926" cy="14644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02A43"/>
                </a:solidFill>
                <a:latin typeface="Inter" pitchFamily="34" charset="0"/>
                <a:ea typeface="Inter" pitchFamily="34" charset="-122"/>
                <a:cs typeface="Inter" pitchFamily="34" charset="-120"/>
              </a:rPr>
              <a:t>Cleaner Code</a:t>
            </a:r>
            <a:endParaRPr lang="en-US" sz="885" dirty="0"/>
          </a:p>
        </p:txBody>
      </p:sp>
      <p:sp>
        <p:nvSpPr>
          <p:cNvPr id="11" name="Text 7"/>
          <p:cNvSpPr/>
          <p:nvPr/>
        </p:nvSpPr>
        <p:spPr>
          <a:xfrm>
            <a:off x="542925" y="2735666"/>
            <a:ext cx="2476481" cy="300038"/>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334E68"/>
                </a:solidFill>
                <a:latin typeface="Inter" pitchFamily="34" charset="0"/>
                <a:ea typeface="Inter" pitchFamily="34" charset="-122"/>
                <a:cs typeface="Inter" pitchFamily="34" charset="-120"/>
              </a:rPr>
              <a:t>Eliminates the "Telescoping Constructor" trap, making the codebase more readable and less error-prone.</a:t>
            </a:r>
            <a:endParaRPr lang="en-US" sz="727" dirty="0"/>
          </a:p>
        </p:txBody>
      </p:sp>
      <p:sp>
        <p:nvSpPr>
          <p:cNvPr id="12" name="Shape 8"/>
          <p:cNvSpPr/>
          <p:nvPr/>
        </p:nvSpPr>
        <p:spPr>
          <a:xfrm>
            <a:off x="3219431" y="2046294"/>
            <a:ext cx="2705109" cy="1528763"/>
          </a:xfrm>
          <a:prstGeom prst="rect">
            <a:avLst/>
          </a:prstGeom>
          <a:solidFill>
            <a:srgbClr val="FFFFFF"/>
          </a:solidFill>
          <a:ln w="9144">
            <a:solidFill>
              <a:srgbClr val="E2E8F0"/>
            </a:solidFill>
            <a:prstDash val="solid"/>
          </a:ln>
        </p:spPr>
      </p:sp>
      <p:pic>
        <p:nvPicPr>
          <p:cNvPr id="13" name="Image 2" descr="preencoded.png"/>
          <p:cNvPicPr>
            <a:picLocks noChangeAspect="1"/>
          </p:cNvPicPr>
          <p:nvPr/>
        </p:nvPicPr>
        <p:blipFill>
          <a:blip r:embed="rId5"/>
          <a:stretch>
            <a:fillRect/>
          </a:stretch>
        </p:blipFill>
        <p:spPr>
          <a:xfrm>
            <a:off x="4429097" y="2160594"/>
            <a:ext cx="285750" cy="285750"/>
          </a:xfrm>
          <a:prstGeom prst="rect">
            <a:avLst/>
          </a:prstGeom>
        </p:spPr>
      </p:pic>
      <p:sp>
        <p:nvSpPr>
          <p:cNvPr id="14" name="Text 9"/>
          <p:cNvSpPr/>
          <p:nvPr/>
        </p:nvSpPr>
        <p:spPr>
          <a:xfrm>
            <a:off x="4032452" y="2532069"/>
            <a:ext cx="1079069" cy="14644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02A43"/>
                </a:solidFill>
                <a:latin typeface="Inter" pitchFamily="34" charset="0"/>
                <a:ea typeface="Inter" pitchFamily="34" charset="-122"/>
                <a:cs typeface="Inter" pitchFamily="34" charset="-120"/>
              </a:rPr>
              <a:t>Design Principles</a:t>
            </a:r>
            <a:endParaRPr lang="en-US" sz="885" dirty="0"/>
          </a:p>
        </p:txBody>
      </p:sp>
      <p:sp>
        <p:nvSpPr>
          <p:cNvPr id="15" name="Text 10"/>
          <p:cNvSpPr/>
          <p:nvPr/>
        </p:nvSpPr>
        <p:spPr>
          <a:xfrm>
            <a:off x="3333731" y="2735666"/>
            <a:ext cx="2476509" cy="300038"/>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334E68"/>
                </a:solidFill>
                <a:latin typeface="Inter" pitchFamily="34" charset="0"/>
                <a:ea typeface="Inter" pitchFamily="34" charset="-122"/>
                <a:cs typeface="Inter" pitchFamily="34" charset="-120"/>
              </a:rPr>
              <a:t>Strong adherence to SRP, OCP, Encapsulation, and Immutability for robust object creation.</a:t>
            </a:r>
            <a:endParaRPr lang="en-US" sz="727" dirty="0"/>
          </a:p>
        </p:txBody>
      </p:sp>
      <p:sp>
        <p:nvSpPr>
          <p:cNvPr id="16" name="Shape 11"/>
          <p:cNvSpPr/>
          <p:nvPr/>
        </p:nvSpPr>
        <p:spPr>
          <a:xfrm>
            <a:off x="6010266" y="2046294"/>
            <a:ext cx="2705081" cy="1528763"/>
          </a:xfrm>
          <a:prstGeom prst="rect">
            <a:avLst/>
          </a:prstGeom>
          <a:solidFill>
            <a:srgbClr val="FFFFFF"/>
          </a:solidFill>
          <a:ln w="9144">
            <a:solidFill>
              <a:srgbClr val="E2E8F0"/>
            </a:solidFill>
            <a:prstDash val="solid"/>
          </a:ln>
        </p:spPr>
      </p:sp>
      <p:pic>
        <p:nvPicPr>
          <p:cNvPr id="17" name="Image 3" descr="preencoded.png"/>
          <p:cNvPicPr>
            <a:picLocks noChangeAspect="1"/>
          </p:cNvPicPr>
          <p:nvPr/>
        </p:nvPicPr>
        <p:blipFill>
          <a:blip r:embed="rId6"/>
          <a:stretch>
            <a:fillRect/>
          </a:stretch>
        </p:blipFill>
        <p:spPr>
          <a:xfrm>
            <a:off x="7219931" y="2160594"/>
            <a:ext cx="285750" cy="285750"/>
          </a:xfrm>
          <a:prstGeom prst="rect">
            <a:avLst/>
          </a:prstGeom>
        </p:spPr>
      </p:pic>
      <p:sp>
        <p:nvSpPr>
          <p:cNvPr id="18" name="Text 12"/>
          <p:cNvSpPr/>
          <p:nvPr/>
        </p:nvSpPr>
        <p:spPr>
          <a:xfrm>
            <a:off x="6916266" y="2532069"/>
            <a:ext cx="893080" cy="14644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02A43"/>
                </a:solidFill>
                <a:latin typeface="Inter" pitchFamily="34" charset="0"/>
                <a:ea typeface="Inter" pitchFamily="34" charset="-122"/>
                <a:cs typeface="Inter" pitchFamily="34" charset="-120"/>
              </a:rPr>
              <a:t>Maintainability</a:t>
            </a:r>
            <a:endParaRPr lang="en-US" sz="885" dirty="0"/>
          </a:p>
        </p:txBody>
      </p:sp>
      <p:sp>
        <p:nvSpPr>
          <p:cNvPr id="19" name="Text 13"/>
          <p:cNvSpPr/>
          <p:nvPr/>
        </p:nvSpPr>
        <p:spPr>
          <a:xfrm>
            <a:off x="6124566" y="2735666"/>
            <a:ext cx="2476481" cy="300038"/>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334E68"/>
                </a:solidFill>
                <a:latin typeface="Inter" pitchFamily="34" charset="0"/>
                <a:ea typeface="Inter" pitchFamily="34" charset="-122"/>
                <a:cs typeface="Inter" pitchFamily="34" charset="-120"/>
              </a:rPr>
              <a:t>The modular design ensures the system is scalable and easy to maintain as requirements evolve.</a:t>
            </a:r>
            <a:endParaRPr lang="en-US" sz="727" dirty="0"/>
          </a:p>
        </p:txBody>
      </p:sp>
      <p:sp>
        <p:nvSpPr>
          <p:cNvPr id="21" name="TextBox 20">
            <a:extLst>
              <a:ext uri="{FF2B5EF4-FFF2-40B4-BE49-F238E27FC236}">
                <a16:creationId xmlns:a16="http://schemas.microsoft.com/office/drawing/2014/main" id="{FEEF8016-24EE-4015-9690-85C8C8A8572D}"/>
              </a:ext>
            </a:extLst>
          </p:cNvPr>
          <p:cNvSpPr txBox="1"/>
          <p:nvPr/>
        </p:nvSpPr>
        <p:spPr>
          <a:xfrm>
            <a:off x="2258677" y="3843426"/>
            <a:ext cx="4626590" cy="369332"/>
          </a:xfrm>
          <a:prstGeom prst="rect">
            <a:avLst/>
          </a:prstGeom>
          <a:noFill/>
        </p:spPr>
        <p:txBody>
          <a:bodyPr wrap="square">
            <a:spAutoFit/>
          </a:bodyPr>
          <a:lstStyle/>
          <a:p>
            <a:pPr algn="ctr"/>
            <a:r>
              <a:rPr lang="en-US" dirty="0">
                <a:hlinkClick r:id="rId7"/>
              </a:rPr>
              <a:t>Link of Project</a:t>
            </a:r>
            <a:endParaRPr lang="ar-JO"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Shape 0"/>
          <p:cNvSpPr/>
          <p:nvPr/>
        </p:nvSpPr>
        <p:spPr>
          <a:xfrm>
            <a:off x="2321133" y="842963"/>
            <a:ext cx="4501735" cy="3443288"/>
          </a:xfrm>
          <a:prstGeom prst="rect">
            <a:avLst/>
          </a:prstGeom>
          <a:solidFill>
            <a:srgbClr val="FFFFFF"/>
          </a:solidFill>
          <a:ln w="9144">
            <a:solidFill>
              <a:srgbClr val="E2E8F0"/>
            </a:solidFill>
            <a:prstDash val="solid"/>
          </a:ln>
        </p:spPr>
      </p:sp>
      <p:sp>
        <p:nvSpPr>
          <p:cNvPr id="4" name="Text 1"/>
          <p:cNvSpPr/>
          <p:nvPr/>
        </p:nvSpPr>
        <p:spPr>
          <a:xfrm>
            <a:off x="3042651" y="1842362"/>
            <a:ext cx="3058697" cy="571500"/>
          </a:xfrm>
          <a:prstGeom prst="rect">
            <a:avLst/>
          </a:prstGeom>
          <a:noFill/>
          <a:ln/>
        </p:spPr>
        <p:txBody>
          <a:bodyPr wrap="none" lIns="0" tIns="0" rIns="0" bIns="0" rtlCol="0" anchor="t">
            <a:spAutoFit/>
          </a:bodyPr>
          <a:lstStyle/>
          <a:p>
            <a:pPr marL="0" indent="0" algn="ctr">
              <a:lnSpc>
                <a:spcPts val="4500"/>
              </a:lnSpc>
              <a:buNone/>
            </a:pPr>
            <a:r>
              <a:rPr lang="en-US" sz="4145" b="1" dirty="0">
                <a:solidFill>
                  <a:srgbClr val="102A43"/>
                </a:solidFill>
                <a:latin typeface="Inter" pitchFamily="34" charset="0"/>
                <a:ea typeface="Inter" pitchFamily="34" charset="-122"/>
                <a:cs typeface="Inter" pitchFamily="34" charset="-120"/>
              </a:rPr>
              <a:t>Thank You!</a:t>
            </a:r>
            <a:endParaRPr lang="en-US" sz="4145" dirty="0"/>
          </a:p>
        </p:txBody>
      </p:sp>
      <p:sp>
        <p:nvSpPr>
          <p:cNvPr id="5" name="Text 2"/>
          <p:cNvSpPr/>
          <p:nvPr/>
        </p:nvSpPr>
        <p:spPr>
          <a:xfrm>
            <a:off x="3042651" y="2628174"/>
            <a:ext cx="3058697" cy="478631"/>
          </a:xfrm>
          <a:prstGeom prst="rect">
            <a:avLst/>
          </a:prstGeom>
          <a:noFill/>
          <a:ln/>
        </p:spPr>
        <p:txBody>
          <a:bodyPr wrap="none" lIns="0" tIns="170053" rIns="0" bIns="0" rtlCol="0" anchor="t">
            <a:spAutoFit/>
          </a:bodyPr>
          <a:lstStyle/>
          <a:p>
            <a:pPr marL="0" indent="0" algn="ctr">
              <a:lnSpc>
                <a:spcPts val="2700"/>
              </a:lnSpc>
              <a:buNone/>
            </a:pPr>
            <a:r>
              <a:rPr lang="en-US" sz="2145" dirty="0">
                <a:solidFill>
                  <a:srgbClr val="007BFF"/>
                </a:solidFill>
                <a:latin typeface="Inter" pitchFamily="34" charset="0"/>
                <a:ea typeface="Inter" pitchFamily="34" charset="-122"/>
                <a:cs typeface="Inter" pitchFamily="34" charset="-120"/>
              </a:rPr>
              <a:t>Any Questions?</a:t>
            </a:r>
            <a:endParaRPr lang="en-US" sz="2145" dirty="0"/>
          </a:p>
        </p:txBody>
      </p:sp>
      <p:pic>
        <p:nvPicPr>
          <p:cNvPr id="6" name="Image 1" descr="preencoded.png"/>
          <p:cNvPicPr>
            <a:picLocks noChangeAspect="1"/>
          </p:cNvPicPr>
          <p:nvPr/>
        </p:nvPicPr>
        <p:blipFill>
          <a:blip r:embed="rId4"/>
          <a:stretch>
            <a:fillRect/>
          </a:stretch>
        </p:blipFill>
        <p:spPr>
          <a:xfrm>
            <a:off x="3929063" y="3629723"/>
            <a:ext cx="285750" cy="228600"/>
          </a:xfrm>
          <a:prstGeom prst="rect">
            <a:avLst/>
          </a:prstGeom>
        </p:spPr>
      </p:pic>
      <p:pic>
        <p:nvPicPr>
          <p:cNvPr id="7" name="Image 2" descr="preencoded.png"/>
          <p:cNvPicPr>
            <a:picLocks noChangeAspect="1"/>
          </p:cNvPicPr>
          <p:nvPr/>
        </p:nvPicPr>
        <p:blipFill>
          <a:blip r:embed="rId5"/>
          <a:stretch>
            <a:fillRect/>
          </a:stretch>
        </p:blipFill>
        <p:spPr>
          <a:xfrm>
            <a:off x="4429125" y="3629723"/>
            <a:ext cx="285750" cy="228600"/>
          </a:xfrm>
          <a:prstGeom prst="rect">
            <a:avLst/>
          </a:prstGeom>
        </p:spPr>
      </p:pic>
      <p:pic>
        <p:nvPicPr>
          <p:cNvPr id="8" name="Image 3" descr="preencoded.png"/>
          <p:cNvPicPr>
            <a:picLocks noChangeAspect="1"/>
          </p:cNvPicPr>
          <p:nvPr/>
        </p:nvPicPr>
        <p:blipFill>
          <a:blip r:embed="rId6"/>
          <a:stretch>
            <a:fillRect/>
          </a:stretch>
        </p:blipFill>
        <p:spPr>
          <a:xfrm>
            <a:off x="4929188" y="3629723"/>
            <a:ext cx="285750" cy="228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1039</Words>
  <Application>Microsoft Office PowerPoint</Application>
  <PresentationFormat>On-screen Show (16:9)</PresentationFormat>
  <Paragraphs>137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Courier New</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قاسم فندي عزات الحميدي</cp:lastModifiedBy>
  <cp:revision>4</cp:revision>
  <dcterms:created xsi:type="dcterms:W3CDTF">2026-04-17T14:37:43Z</dcterms:created>
  <dcterms:modified xsi:type="dcterms:W3CDTF">2026-04-20T10:45:08Z</dcterms:modified>
</cp:coreProperties>
</file>