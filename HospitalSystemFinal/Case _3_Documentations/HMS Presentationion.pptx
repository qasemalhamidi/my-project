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408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500313" cy="5143500"/>
          </a:xfrm>
          <a:prstGeom prst="rect">
            <a:avLst/>
          </a:prstGeom>
          <a:solidFill>
            <a:srgbClr val="1A2B4D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767953" y="2089547"/>
            <a:ext cx="964406" cy="857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50131" y="3061097"/>
            <a:ext cx="4000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HMS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2500313" y="0"/>
            <a:ext cx="6643688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2500313" y="0"/>
            <a:ext cx="57150" cy="51435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4"/>
          <p:cNvSpPr/>
          <p:nvPr/>
        </p:nvSpPr>
        <p:spPr>
          <a:xfrm>
            <a:off x="3071813" y="1284563"/>
            <a:ext cx="6072188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1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Hospital Management
System</a:t>
            </a:r>
            <a:endParaRPr lang="en-US" sz="3100" dirty="0"/>
          </a:p>
        </p:txBody>
      </p:sp>
      <p:sp>
        <p:nvSpPr>
          <p:cNvPr id="9" name="Text 5"/>
          <p:cNvSpPr/>
          <p:nvPr/>
        </p:nvSpPr>
        <p:spPr>
          <a:xfrm>
            <a:off x="3071813" y="2512563"/>
            <a:ext cx="607218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498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the Observer Design Pattern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071813" y="3233133"/>
            <a:ext cx="128944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3498D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COURSE DETAILS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3071813" y="3426014"/>
            <a:ext cx="128944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Programming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071813" y="3606031"/>
            <a:ext cx="128944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UI Sync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89884" y="3233133"/>
            <a:ext cx="131802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3498D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MEMBERS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4789884" y="3426014"/>
            <a:ext cx="131802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Qasem Al-Humaidi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789884" y="3606031"/>
            <a:ext cx="131802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Khalil Al-Masri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789884" y="3786048"/>
            <a:ext cx="131802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Mahmoud Nimr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89884" y="3966065"/>
            <a:ext cx="131802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Mohammed Al-Homsi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65279"/>
            <a:ext cx="8858250" cy="1001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285750"/>
            <a:ext cx="71438" cy="100124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01216"/>
            <a:ext cx="84296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 &amp; Objectives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714375" y="1572741"/>
            <a:ext cx="3571875" cy="1658103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ar-SY" dirty="0"/>
          </a:p>
        </p:txBody>
      </p:sp>
      <p:sp>
        <p:nvSpPr>
          <p:cNvPr id="7" name="Text 4"/>
          <p:cNvSpPr/>
          <p:nvPr/>
        </p:nvSpPr>
        <p:spPr>
          <a:xfrm>
            <a:off x="928688" y="1929343"/>
            <a:ext cx="31432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98D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Objective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28688" y="2265099"/>
            <a:ext cx="3143250" cy="54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build a robust Hospital Management System (HMS) that handles patient records, staff management, and real-time data visualization using advanced design patterns.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14375" y="3558704"/>
            <a:ext cx="3571875" cy="292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Architecture</a:t>
            </a:r>
            <a:r>
              <a:rPr lang="en-US" sz="9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:</a:t>
            </a:r>
            <a:r>
              <a:rPr lang="en-US" sz="950" dirty="0">
                <a:solidFill>
                  <a:srgbClr val="1A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Built using Java Swing with a focus on decoupling data from the user interface.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57750" y="1572741"/>
            <a:ext cx="1714500" cy="1228725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984" y="1715616"/>
            <a:ext cx="250031" cy="285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00625" y="2222822"/>
            <a:ext cx="142875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3E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 Registration &amp; Tracking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6715125" y="1572741"/>
            <a:ext cx="1714500" cy="1228725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641" y="1715616"/>
            <a:ext cx="321469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0" y="2222822"/>
            <a:ext cx="142875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3E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Staff &amp; Department Management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857750" y="2930054"/>
            <a:ext cx="1714500" cy="1228725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25" y="3072929"/>
            <a:ext cx="285750" cy="285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00625" y="3580135"/>
            <a:ext cx="14287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3E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Dashboard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6715125" y="2930054"/>
            <a:ext cx="1714500" cy="1228725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7359" y="3072929"/>
            <a:ext cx="250031" cy="2857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58000" y="3580135"/>
            <a:ext cx="14287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3E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Event Logging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142875"/>
            <a:ext cx="8858250" cy="1001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42875"/>
            <a:ext cx="71438" cy="1001241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658341"/>
            <a:ext cx="84296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Challenge: UI Synchronization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0" y="1144116"/>
            <a:ext cx="9144000" cy="691493"/>
          </a:xfrm>
          <a:prstGeom prst="rect">
            <a:avLst/>
          </a:prstGeom>
          <a:noFill/>
          <a:ln/>
        </p:spPr>
        <p:txBody>
          <a:bodyPr wrap="square" lIns="680339" tIns="170053" rIns="680339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do we keep multiple UI components (tables, dashboards, logs) updated instantly when hospital data changes without creating a mess?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8625" y="2049921"/>
            <a:ext cx="2666991" cy="2014538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120" y="2192796"/>
            <a:ext cx="446484" cy="3571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0075" y="2807159"/>
            <a:ext cx="23145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Tight Coupling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00075" y="3128628"/>
            <a:ext cx="23145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 layer must explicitly know about every UI component, making it rigid and hard to modify.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228975" y="2049921"/>
            <a:ext cx="2671763" cy="2014538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263" y="2192796"/>
            <a:ext cx="357188" cy="3571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05197" y="2807159"/>
            <a:ext cx="231934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Maintenance Nightmare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405197" y="3128628"/>
            <a:ext cx="231934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a new view requires modifying the core data logic, violating the Open/Closed Principle.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038869" y="2049921"/>
            <a:ext cx="2676534" cy="2014538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3244" y="2192796"/>
            <a:ext cx="357188" cy="3571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9806" y="2807159"/>
            <a:ext cx="232409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Inconsistency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219806" y="3128628"/>
            <a:ext cx="23240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updates are prone to errors, where some views might fail to refresh, leading to stale data.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858250" cy="1001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285750"/>
            <a:ext cx="71438" cy="100124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01216"/>
            <a:ext cx="84296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Solution: Observer Design Pattern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714375" y="1715616"/>
            <a:ext cx="4150519" cy="2978944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0125" y="2167375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0125" y="2553137"/>
            <a:ext cx="357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behavioral design pattern that defines a </a:t>
            </a:r>
            <a:r>
              <a:rPr lang="en-US" sz="1000" b="1" dirty="0">
                <a:solidFill>
                  <a:srgbClr val="2C3E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one-to-many</a:t>
            </a:r>
            <a:r>
              <a:rPr lang="en-US" sz="10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dependency between objects so that when one object changes state, all its dependents are notified and updated automatically.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00125" y="3610412"/>
            <a:ext cx="3571875" cy="37147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498D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"Don't call us, we'll call you."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858491"/>
            <a:ext cx="171450" cy="2071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72075" y="2015654"/>
            <a:ext cx="32575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Loose Coupling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172075" y="2319263"/>
            <a:ext cx="325755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Subject doesn't need to know the details of its Observers, only that they implement a specific interface.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2851472"/>
            <a:ext cx="171450" cy="2071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72075" y="3008635"/>
            <a:ext cx="32575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Relationships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172075" y="3312244"/>
            <a:ext cx="325755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Observers can be added or removed at runtime without modifying the Subject's code.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3844454"/>
            <a:ext cx="171450" cy="2071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72075" y="4001616"/>
            <a:ext cx="32575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Broadcast Communication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172075" y="4305226"/>
            <a:ext cx="325755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Efficiently updates multiple UI components simultaneously from a single data change event.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858250" cy="1001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285750"/>
            <a:ext cx="71438" cy="100124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01216"/>
            <a:ext cx="84296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Observer Pattern Architecture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343275" y="1715616"/>
            <a:ext cx="2457450" cy="1063833"/>
          </a:xfrm>
          <a:prstGeom prst="rect">
            <a:avLst/>
          </a:prstGeom>
          <a:solidFill>
            <a:srgbClr val="1A2B4D"/>
          </a:solidFill>
          <a:ln w="18288">
            <a:solidFill>
              <a:srgbClr val="3498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00438" y="1958504"/>
            <a:ext cx="2143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498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CONCRETE SUBJECT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500438" y="2222236"/>
            <a:ext cx="21431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HospitalData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00438" y="2529418"/>
            <a:ext cx="2143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498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State &amp; Notifies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957263" y="3479536"/>
            <a:ext cx="1514475" cy="835819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75" y="3586693"/>
            <a:ext cx="171450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1563" y="3943880"/>
            <a:ext cx="12858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Observer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862244" y="3479536"/>
            <a:ext cx="1514475" cy="835819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756" y="3586693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76544" y="3943880"/>
            <a:ext cx="12858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 Table Observer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767225" y="3479536"/>
            <a:ext cx="1514475" cy="835819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307" y="3586693"/>
            <a:ext cx="214313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81525" y="3943880"/>
            <a:ext cx="12858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Staff Table Observer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6672207" y="3479536"/>
            <a:ext cx="1514475" cy="835819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004" y="3586693"/>
            <a:ext cx="192881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86507" y="3943880"/>
            <a:ext cx="12858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Log Observer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1599307" y="4658255"/>
            <a:ext cx="153233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C3E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Subject:</a:t>
            </a: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source of truth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3574554" y="4658255"/>
            <a:ext cx="184665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C3E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Notification:</a:t>
            </a: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Automatic broadcast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5878413" y="4658255"/>
            <a:ext cx="182344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C3E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Observers:</a:t>
            </a: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Independent UI views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858250" cy="1001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285750"/>
            <a:ext cx="71438" cy="100124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01216"/>
            <a:ext cx="84296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Interfaces: Subject &amp; Observer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1572741"/>
            <a:ext cx="4036219" cy="3407569"/>
          </a:xfrm>
          <a:prstGeom prst="rect">
            <a:avLst/>
          </a:prstGeom>
          <a:solidFill>
            <a:srgbClr val="1A2B4D"/>
          </a:solidFill>
          <a:ln w="9144">
            <a:solidFill>
              <a:srgbClr val="3498DB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896052"/>
            <a:ext cx="176808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4027" y="1881764"/>
            <a:ext cx="17430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98D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HospitalObserver.java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07219" y="2292530"/>
            <a:ext cx="367188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7F8C8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The Observer Interface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F39C1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interface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50" dirty="0">
                <a:solidFill>
                  <a:srgbClr val="2ECC7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HospitalObserver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
    </a:t>
            </a:r>
            <a:r>
              <a:rPr lang="en-US" sz="850" dirty="0">
                <a:solidFill>
                  <a:srgbClr val="F39C1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void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update(</a:t>
            </a:r>
            <a:r>
              <a:rPr lang="en-US" sz="850" dirty="0">
                <a:solidFill>
                  <a:srgbClr val="2ECC7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HospitalEvent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event);
    </a:t>
            </a:r>
            <a:r>
              <a:rPr lang="en-US" sz="850" dirty="0">
                <a:solidFill>
                  <a:srgbClr val="F39C1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void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subscribe();
    </a:t>
            </a:r>
            <a:r>
              <a:rPr lang="en-US" sz="850" dirty="0">
                <a:solidFill>
                  <a:srgbClr val="F39C1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void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unsubscribe();
}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672013" y="1572741"/>
            <a:ext cx="4043363" cy="3407569"/>
          </a:xfrm>
          <a:prstGeom prst="rect">
            <a:avLst/>
          </a:prstGeom>
          <a:solidFill>
            <a:srgbClr val="1A2B4D"/>
          </a:solidFill>
          <a:ln w="9144">
            <a:solidFill>
              <a:srgbClr val="3498DB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896052"/>
            <a:ext cx="176808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34558" y="1881764"/>
            <a:ext cx="1623417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98D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HospitalSubject.java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857750" y="2292530"/>
            <a:ext cx="367903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7F8C8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The Subject Interface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F39C1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interface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50" dirty="0">
                <a:solidFill>
                  <a:srgbClr val="2ECC7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HospitalSubject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
    </a:t>
            </a:r>
            <a:r>
              <a:rPr lang="en-US" sz="850" dirty="0">
                <a:solidFill>
                  <a:srgbClr val="F39C1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void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registerObserver(</a:t>
            </a:r>
            <a:r>
              <a:rPr lang="en-US" sz="850" dirty="0">
                <a:solidFill>
                  <a:srgbClr val="2ECC7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HospitalObserver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o);
    </a:t>
            </a:r>
            <a:r>
              <a:rPr lang="en-US" sz="850" dirty="0">
                <a:solidFill>
                  <a:srgbClr val="F39C1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void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removeObserver(</a:t>
            </a:r>
            <a:r>
              <a:rPr lang="en-US" sz="850" dirty="0">
                <a:solidFill>
                  <a:srgbClr val="2ECC7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HospitalObserver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o);
    </a:t>
            </a:r>
            <a:r>
              <a:rPr lang="en-US" sz="850" dirty="0">
                <a:solidFill>
                  <a:srgbClr val="F39C1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void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notifyObservers(</a:t>
            </a:r>
            <a:r>
              <a:rPr lang="en-US" sz="850" dirty="0">
                <a:solidFill>
                  <a:srgbClr val="2ECC7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HospitalEvent</a:t>
            </a: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e);
}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65279"/>
            <a:ext cx="8858250" cy="1001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285750"/>
            <a:ext cx="71438" cy="100124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01216"/>
            <a:ext cx="84296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Event-Driven Communication Model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21469" y="1572741"/>
            <a:ext cx="4364831" cy="2775347"/>
          </a:xfrm>
          <a:prstGeom prst="rect">
            <a:avLst/>
          </a:prstGeom>
          <a:solidFill>
            <a:srgbClr val="1A2B4D"/>
          </a:solidFill>
          <a:ln w="9144">
            <a:solidFill>
              <a:srgbClr val="3498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787054"/>
            <a:ext cx="39290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Centralized Event Types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2938" y="1937072"/>
            <a:ext cx="7465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enum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457325" y="1937072"/>
            <a:ext cx="882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HospitalEvent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339578" y="1937072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2938" y="2087091"/>
            <a:ext cx="9501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PATIENT_ADDED,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2938" y="2237110"/>
            <a:ext cx="1085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PATIENT_UPDATED,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2938" y="2387129"/>
            <a:ext cx="1085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PATIENT_DELETED,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2938" y="2537147"/>
            <a:ext cx="10179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EMPLOYEE_ADDED,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42938" y="2687166"/>
            <a:ext cx="11537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EMPLOYEE_DELETED,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42938" y="2837185"/>
            <a:ext cx="814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DATA_LOADED;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2938" y="3137222"/>
            <a:ext cx="16287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Human-readable labels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2938" y="3287241"/>
            <a:ext cx="882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private final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525191" y="3287241"/>
            <a:ext cx="9501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String label;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2938" y="3437260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...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2938" y="3587279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86313" y="1701329"/>
            <a:ext cx="392906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     The role of the Enum in the Observer Pattern: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86313" y="1999580"/>
            <a:ext cx="3929063" cy="1562695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86313" y="1999580"/>
            <a:ext cx="1681683" cy="269677"/>
          </a:xfrm>
          <a:prstGeom prst="rect">
            <a:avLst/>
          </a:prstGeom>
          <a:solidFill>
            <a:srgbClr val="1A2B4D"/>
          </a:solidFill>
          <a:ln/>
        </p:spPr>
      </p:sp>
      <p:sp>
        <p:nvSpPr>
          <p:cNvPr id="25" name="Text 22"/>
          <p:cNvSpPr/>
          <p:nvPr/>
        </p:nvSpPr>
        <p:spPr>
          <a:xfrm>
            <a:off x="4786313" y="1999580"/>
            <a:ext cx="1681683" cy="26967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67996" y="1999580"/>
            <a:ext cx="2247379" cy="269677"/>
          </a:xfrm>
          <a:prstGeom prst="rect">
            <a:avLst/>
          </a:prstGeom>
          <a:solidFill>
            <a:srgbClr val="1A2B4D"/>
          </a:solidFill>
          <a:ln/>
        </p:spPr>
      </p:sp>
      <p:sp>
        <p:nvSpPr>
          <p:cNvPr id="27" name="Text 24"/>
          <p:cNvSpPr/>
          <p:nvPr/>
        </p:nvSpPr>
        <p:spPr>
          <a:xfrm>
            <a:off x="6467996" y="1999580"/>
            <a:ext cx="2247379" cy="269677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Impacted Observers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893469" y="2376413"/>
            <a:ext cx="475059" cy="13394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9" name="Text 26"/>
          <p:cNvSpPr/>
          <p:nvPr/>
        </p:nvSpPr>
        <p:spPr>
          <a:xfrm>
            <a:off x="4893469" y="2376413"/>
            <a:ext cx="475059" cy="133945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893469" y="2546077"/>
            <a:ext cx="135731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Added, Updated, Deleted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467996" y="2269257"/>
            <a:ext cx="2247379" cy="425053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PatientTable, Dashboard, EventLog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893469" y="2805038"/>
            <a:ext cx="576858" cy="13394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3" name="Text 30"/>
          <p:cNvSpPr/>
          <p:nvPr/>
        </p:nvSpPr>
        <p:spPr>
          <a:xfrm>
            <a:off x="4893469" y="2805038"/>
            <a:ext cx="576858" cy="133945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4893469" y="2974702"/>
            <a:ext cx="8322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Added, Deleted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467996" y="2694310"/>
            <a:ext cx="2247379" cy="428625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StaffTable, DeptTree, Dashboard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93469" y="3233663"/>
            <a:ext cx="476845" cy="13394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7" name="Text 34"/>
          <p:cNvSpPr/>
          <p:nvPr/>
        </p:nvSpPr>
        <p:spPr>
          <a:xfrm>
            <a:off x="4893469" y="3233663"/>
            <a:ext cx="476845" cy="133945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4893469" y="3403327"/>
            <a:ext cx="68401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Loaded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467996" y="3122935"/>
            <a:ext cx="2247379" cy="428625"/>
          </a:xfrm>
          <a:prstGeom prst="rect">
            <a:avLst/>
          </a:prstGeom>
          <a:noFill/>
          <a:ln/>
        </p:spPr>
        <p:txBody>
          <a:bodyPr wrap="square" lIns="127508" tIns="127508" rIns="127508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Registered Observers</a:t>
            </a:r>
            <a:endParaRPr lang="en-US" sz="85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169" y="3939825"/>
            <a:ext cx="114300" cy="11430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4948833" y="3910533"/>
            <a:ext cx="1659136" cy="14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Enum allows observers to filter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6367133" y="3899818"/>
            <a:ext cx="485510" cy="137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6574302" y="3907334"/>
            <a:ext cx="165913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 and only perform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4929187" y="4071268"/>
            <a:ext cx="28289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expensive UI refreshes when relevant data changes.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0"/>
            <a:ext cx="8858250" cy="1001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0"/>
            <a:ext cx="71438" cy="100124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515466"/>
            <a:ext cx="84296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Concrete Subject: HospitalData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1072679"/>
            <a:ext cx="5007769" cy="3536156"/>
          </a:xfrm>
          <a:prstGeom prst="rect">
            <a:avLst/>
          </a:prstGeom>
          <a:solidFill>
            <a:srgbClr val="1A2B4D"/>
          </a:solidFill>
          <a:ln w="9144">
            <a:solidFill>
              <a:srgbClr val="3498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149474"/>
            <a:ext cx="7715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class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478756" y="1149474"/>
            <a:ext cx="7715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HospitalData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314575" y="1149474"/>
            <a:ext cx="6429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implements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021806" y="1149474"/>
            <a:ext cx="9644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HospitalSubject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986213" y="1149474"/>
            <a:ext cx="1285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2938" y="1299493"/>
            <a:ext cx="257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00113" y="1299493"/>
            <a:ext cx="19931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List of registered observers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00113" y="1449512"/>
            <a:ext cx="8358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private final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00225" y="1449512"/>
            <a:ext cx="257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List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057400" y="1449512"/>
            <a:ext cx="642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121694" y="1449512"/>
            <a:ext cx="10287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HospitalObserver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150394" y="1449512"/>
            <a:ext cx="9001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observers =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050506" y="1449512"/>
            <a:ext cx="1928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307681" y="1449512"/>
            <a:ext cx="5786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ArrayList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86325" y="1449512"/>
            <a:ext cx="3214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&lt;&gt;();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42938" y="1749549"/>
            <a:ext cx="257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00113" y="1749549"/>
            <a:ext cx="9001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boolean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864519" y="1749549"/>
            <a:ext cx="6429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addPatient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507456" y="1749549"/>
            <a:ext cx="642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571750" y="1749549"/>
            <a:ext cx="4500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Patient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021806" y="1749549"/>
            <a:ext cx="3214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p) {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2938" y="1899568"/>
            <a:ext cx="5143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57288" y="1899568"/>
            <a:ext cx="19931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... logic to add patient ...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42938" y="2194247"/>
            <a:ext cx="4564856" cy="150019"/>
          </a:xfrm>
          <a:prstGeom prst="rect">
            <a:avLst/>
          </a:prstGeom>
          <a:solidFill>
            <a:srgbClr val="3498DB">
              <a:alpha val="2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42938" y="2194247"/>
            <a:ext cx="45648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notifyObservers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80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HospitalEvent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.PATIENT_ADDED);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57288" y="2499643"/>
            <a:ext cx="7072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 true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864519" y="2499643"/>
            <a:ext cx="642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42938" y="2649662"/>
            <a:ext cx="3214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42938" y="2949699"/>
            <a:ext cx="257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900113" y="2949699"/>
            <a:ext cx="5786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@Override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900113" y="3099718"/>
            <a:ext cx="7072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void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671638" y="3099718"/>
            <a:ext cx="9644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notifyObservers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636044" y="3099718"/>
            <a:ext cx="642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700338" y="3099718"/>
            <a:ext cx="8358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HospitalEvent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536156" y="3099718"/>
            <a:ext cx="5786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event) {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42938" y="3249737"/>
            <a:ext cx="5143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157288" y="3249737"/>
            <a:ext cx="1928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for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1350169" y="3249737"/>
            <a:ext cx="1285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478756" y="3249737"/>
            <a:ext cx="10287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HospitalObserver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2507456" y="3249737"/>
            <a:ext cx="15430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observer : observers) {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42938" y="3399755"/>
            <a:ext cx="7715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42938" y="3544416"/>
            <a:ext cx="4564856" cy="150019"/>
          </a:xfrm>
          <a:prstGeom prst="rect">
            <a:avLst/>
          </a:prstGeom>
          <a:solidFill>
            <a:srgbClr val="3498DB">
              <a:alpha val="20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642938" y="3544416"/>
            <a:ext cx="45648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observer.</a:t>
            </a:r>
            <a:r>
              <a:rPr lang="en-US" sz="80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update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(event);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42938" y="3849812"/>
            <a:ext cx="5786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42938" y="3999830"/>
            <a:ext cx="3214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42938" y="4149849"/>
            <a:ext cx="257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42938" y="4299868"/>
            <a:ext cx="257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900113" y="4299868"/>
            <a:ext cx="2443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... register and remove methods ...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42938" y="4449887"/>
            <a:ext cx="642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800" dirty="0"/>
          </a:p>
        </p:txBody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856" y="1144116"/>
            <a:ext cx="100013" cy="150019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5915025" y="1144116"/>
            <a:ext cx="2800350" cy="338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State Management:</a:t>
            </a:r>
            <a:r>
              <a:rPr lang="en-US" sz="950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HospitalData acts as the single source of truth for all hospital records.</a:t>
            </a:r>
            <a:endParaRPr lang="en-US" sz="900" dirty="0"/>
          </a:p>
        </p:txBody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856" y="1601316"/>
            <a:ext cx="100013" cy="150019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5915025" y="1601316"/>
            <a:ext cx="28003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Automatic Notification:</a:t>
            </a:r>
            <a:r>
              <a:rPr lang="en-US" sz="9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mutation method (add, delete, update) triggers a broadcast to all observers.</a:t>
            </a:r>
            <a:endParaRPr lang="en-US" sz="90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7856" y="2251397"/>
            <a:ext cx="114300" cy="150019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5929313" y="2251397"/>
            <a:ext cx="2955380" cy="54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C3E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Decoupled </a:t>
            </a:r>
            <a:r>
              <a:rPr lang="en-US" sz="1000" b="1" dirty="0">
                <a:solidFill>
                  <a:srgbClr val="2C3E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Logic:</a:t>
            </a:r>
            <a:r>
              <a:rPr lang="en-US" sz="1000" b="1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subject doesn't know what the observers do with the data; it only knows they need to be updated.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858250" cy="1001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285750"/>
            <a:ext cx="71438" cy="100124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01216"/>
            <a:ext cx="84296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Concrete Observer: UI Synchronization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8625" y="1429866"/>
            <a:ext cx="4943475" cy="3205814"/>
          </a:xfrm>
          <a:prstGeom prst="rect">
            <a:avLst/>
          </a:prstGeom>
          <a:solidFill>
            <a:srgbClr val="1A2B4D"/>
          </a:solidFill>
          <a:ln w="9144">
            <a:solidFill>
              <a:srgbClr val="3498DB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60308"/>
            <a:ext cx="19645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7953" y="1646020"/>
            <a:ext cx="1946672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98D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DashboardObserver.java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71500" y="1985349"/>
            <a:ext cx="4643438" cy="2550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class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0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DashboardObserver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implements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0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HospitalObserver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
    </a:t>
            </a:r>
            <a:r>
              <a:rPr lang="en-US" sz="800" i="1" dirty="0">
                <a:solidFill>
                  <a:srgbClr val="5C637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Called automatically by Subject.notifyObservers()</a:t>
            </a:r>
            <a:endParaRPr lang="en-US" sz="8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</a:t>
            </a:r>
            <a:endParaRPr lang="en-US" sz="8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@Override</a:t>
            </a:r>
            <a:endParaRPr lang="en-US" sz="8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</a:t>
            </a:r>
            <a:endParaRPr lang="en-US" sz="8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void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0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update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800" dirty="0">
                <a:solidFill>
                  <a:srgbClr val="E5C0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HospitalEvent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event) {
        </a:t>
            </a: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switch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(event) {
            </a:t>
            </a: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case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PATIENT_ADDED, PATIENT_DELETED,
                 EMPLOYEE_ADDED, EMPLOYEE_DELETED,
                 DATA_LOADED -&gt; </a:t>
            </a:r>
            <a:r>
              <a:rPr lang="en-US" sz="80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refreshDashboard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();
        }
    }
</a:t>
            </a:r>
            <a:r>
              <a:rPr lang="en-US" sz="800" dirty="0">
                <a:solidFill>
                  <a:srgbClr val="C678D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private void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0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refreshDashboard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 {
        lblPatients.</a:t>
            </a:r>
            <a:r>
              <a:rPr lang="en-US" sz="80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setText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(subject.</a:t>
            </a:r>
            <a:r>
              <a:rPr lang="en-US" sz="80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getPatientCount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());
        lblStaff.</a:t>
            </a:r>
            <a:r>
              <a:rPr lang="en-US" sz="80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setText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(subject.</a:t>
            </a:r>
            <a:r>
              <a:rPr lang="en-US" sz="800" dirty="0">
                <a:solidFill>
                  <a:srgbClr val="61AF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getStaffCount</a:t>
            </a:r>
            <a:r>
              <a:rPr lang="en-US" sz="800" dirty="0">
                <a:solidFill>
                  <a:srgbClr val="E0E6E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());
    }
}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557838" y="1429866"/>
            <a:ext cx="3157538" cy="1012627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2138" y="1673647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00738" y="1658466"/>
            <a:ext cx="12965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Selective Reaction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672138" y="1888852"/>
            <a:ext cx="292893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observer uses a switch-case to filter events. It only refreshes the UI when data relevant to the dashboard changes.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5557838" y="2513930"/>
            <a:ext cx="3157538" cy="851892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2138" y="2757711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00738" y="2742530"/>
            <a:ext cx="6572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State Pull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672138" y="2972916"/>
            <a:ext cx="292893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notified, the observer "pulls" the latest state from the Subject (HospitalData) to update its labels.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5557838" y="3437260"/>
            <a:ext cx="3157538" cy="851892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2138" y="3681040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900738" y="3665860"/>
            <a:ext cx="9929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Encapsulation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672138" y="3896246"/>
            <a:ext cx="292893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UI logic is entirely contained within the observer, keeping the main UI class clean and focused on layout.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184632"/>
            <a:ext cx="8858250" cy="1001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285750"/>
            <a:ext cx="71438" cy="100124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610800"/>
            <a:ext cx="84296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Event Flow Analysis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714375" y="1315892"/>
            <a:ext cx="7715250" cy="782241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ar-SY" dirty="0"/>
          </a:p>
        </p:txBody>
      </p:sp>
      <p:sp>
        <p:nvSpPr>
          <p:cNvPr id="7" name="Shape 4"/>
          <p:cNvSpPr/>
          <p:nvPr/>
        </p:nvSpPr>
        <p:spPr>
          <a:xfrm>
            <a:off x="895826" y="1572532"/>
            <a:ext cx="285750" cy="285750"/>
          </a:xfrm>
          <a:prstGeom prst="ellipse">
            <a:avLst/>
          </a:prstGeom>
          <a:solidFill>
            <a:srgbClr val="1A2B4D"/>
          </a:solidFill>
          <a:ln/>
        </p:spPr>
        <p:txBody>
          <a:bodyPr/>
          <a:lstStyle/>
          <a:p>
            <a:endParaRPr lang="ar-SY" dirty="0"/>
          </a:p>
        </p:txBody>
      </p:sp>
      <p:sp>
        <p:nvSpPr>
          <p:cNvPr id="8" name="Text 5"/>
          <p:cNvSpPr/>
          <p:nvPr/>
        </p:nvSpPr>
        <p:spPr>
          <a:xfrm>
            <a:off x="1005839" y="1638463"/>
            <a:ext cx="6572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047" y="1640458"/>
            <a:ext cx="107156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60131" y="1628789"/>
            <a:ext cx="62865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Trigger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861405" y="1826134"/>
            <a:ext cx="62865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user interacts with the UI (e.g., clicks "Add Patient") and submits new data.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714375" y="2264193"/>
            <a:ext cx="7715250" cy="752985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ar-SY" dirty="0"/>
          </a:p>
        </p:txBody>
      </p:sp>
      <p:sp>
        <p:nvSpPr>
          <p:cNvPr id="13" name="Shape 9"/>
          <p:cNvSpPr/>
          <p:nvPr/>
        </p:nvSpPr>
        <p:spPr>
          <a:xfrm>
            <a:off x="904119" y="2533576"/>
            <a:ext cx="285750" cy="285750"/>
          </a:xfrm>
          <a:prstGeom prst="ellipse">
            <a:avLst/>
          </a:prstGeom>
          <a:solidFill>
            <a:srgbClr val="1A2B4D"/>
          </a:solidFill>
          <a:ln/>
        </p:spPr>
      </p:sp>
      <p:sp>
        <p:nvSpPr>
          <p:cNvPr id="14" name="Text 10"/>
          <p:cNvSpPr/>
          <p:nvPr/>
        </p:nvSpPr>
        <p:spPr>
          <a:xfrm>
            <a:off x="904119" y="2601150"/>
            <a:ext cx="28575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9603" y="2566796"/>
            <a:ext cx="150019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04244" y="2534677"/>
            <a:ext cx="62865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904244" y="2718272"/>
            <a:ext cx="62865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HospitalData processes the request, updates its internal state, and calls notifyObservers().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714375" y="3131478"/>
            <a:ext cx="7715250" cy="804451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8688" y="3408131"/>
            <a:ext cx="285750" cy="285750"/>
          </a:xfrm>
          <a:prstGeom prst="ellipse">
            <a:avLst/>
          </a:prstGeom>
          <a:solidFill>
            <a:srgbClr val="1A2B4D"/>
          </a:solidFill>
          <a:ln/>
        </p:spPr>
      </p:sp>
      <p:sp>
        <p:nvSpPr>
          <p:cNvPr id="20" name="Text 15"/>
          <p:cNvSpPr/>
          <p:nvPr/>
        </p:nvSpPr>
        <p:spPr>
          <a:xfrm>
            <a:off x="928688" y="340813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4469" y="3466728"/>
            <a:ext cx="192881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00237" y="3402279"/>
            <a:ext cx="62865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Broadcast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861405" y="3625122"/>
            <a:ext cx="62865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Subject iterates through its list of registered Observers and calls their update() method.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714375" y="4131823"/>
            <a:ext cx="7715250" cy="804451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35725" y="4370412"/>
            <a:ext cx="285750" cy="285750"/>
          </a:xfrm>
          <a:prstGeom prst="ellipse">
            <a:avLst/>
          </a:prstGeom>
          <a:solidFill>
            <a:srgbClr val="1A2B4D"/>
          </a:solidFill>
          <a:ln/>
        </p:spPr>
      </p:sp>
      <p:sp>
        <p:nvSpPr>
          <p:cNvPr id="26" name="Text 20"/>
          <p:cNvSpPr/>
          <p:nvPr/>
        </p:nvSpPr>
        <p:spPr>
          <a:xfrm>
            <a:off x="935725" y="4394522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0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4428455"/>
            <a:ext cx="171450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900237" y="4363001"/>
            <a:ext cx="62865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Reaction &amp; Update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928813" y="4605632"/>
            <a:ext cx="62865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Observer (Dashboard, Table, Log) receives the event and refreshes its specific UI component.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858250" cy="1001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285750"/>
            <a:ext cx="71438" cy="100124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01216"/>
            <a:ext cx="84296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Architectural Benefits &amp; Principles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715616"/>
            <a:ext cx="2524116" cy="2943225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929929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5813" y="2458566"/>
            <a:ext cx="20859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3498D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PRINCIPLE 1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785813" y="2722299"/>
            <a:ext cx="2085975" cy="50006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Responsibility (SRP)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5813" y="3336661"/>
            <a:ext cx="2085975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8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HospitalData</a:t>
            </a: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 is only responsible for managing data and business logic. It doesn't need to know how the data is displayed or rendered in the UI.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300413" y="1715616"/>
            <a:ext cx="2528888" cy="2943225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497" y="1929929"/>
            <a:ext cx="321469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19497" y="2458566"/>
            <a:ext cx="209074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3498D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PRINCIPLE 2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3519497" y="2722299"/>
            <a:ext cx="2090747" cy="2928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Open/Closed (OCP)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519497" y="3129493"/>
            <a:ext cx="2090747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</a:t>
            </a:r>
            <a:r>
              <a:rPr lang="en-US" sz="8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for extension</a:t>
            </a: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but </a:t>
            </a:r>
            <a:r>
              <a:rPr lang="en-US" sz="8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closed for modification</a:t>
            </a: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We can add new UI views (Observers) without changing the core Subject code.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38869" y="1715616"/>
            <a:ext cx="2533659" cy="2943225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929929"/>
            <a:ext cx="250031" cy="285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62669" y="2458566"/>
            <a:ext cx="209549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3498D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6262669" y="2722299"/>
            <a:ext cx="2095491" cy="29289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262669" y="3129493"/>
            <a:ext cx="209549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the hospital grows, adding new modules like </a:t>
            </a:r>
            <a:r>
              <a:rPr lang="en-US" sz="8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Pharmacy</a:t>
            </a: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r>
              <a:rPr lang="en-US" sz="8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Billing</a:t>
            </a:r>
            <a:r>
              <a:rPr lang="en-US" sz="850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becomes seamless by simply registering them as new Observers.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44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65279"/>
            <a:ext cx="8858250" cy="1001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93320" y="507764"/>
            <a:ext cx="71438" cy="100124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801216"/>
            <a:ext cx="84296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Scalability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14375" y="1442223"/>
            <a:ext cx="77152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Observer Pattern transforms a static data system into a dynamic, event-driven ecosystem.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07231" y="2061865"/>
            <a:ext cx="77152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98D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Decoupling is the foundation of professional software architecture.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505" y="2493470"/>
            <a:ext cx="2443163" cy="1585913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112" y="2758583"/>
            <a:ext cx="214313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3821" y="3121179"/>
            <a:ext cx="21431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Integration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54185" y="3395526"/>
            <a:ext cx="21431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Easily add mobile notification observers to alert doctors of critical patient updates instantly.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303931" y="2493470"/>
            <a:ext cx="2443163" cy="1585913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ar-SY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262" y="2724225"/>
            <a:ext cx="357188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3949" y="3130568"/>
            <a:ext cx="2143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Sync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481991" y="3337145"/>
            <a:ext cx="21431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 CloudObserver to synchronize local hospital data with a central database in real-time.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6001764" y="2487010"/>
            <a:ext cx="2443163" cy="1585913"/>
          </a:xfrm>
          <a:prstGeom prst="rect">
            <a:avLst/>
          </a:prstGeom>
          <a:solidFill>
            <a:srgbClr val="FFFFFF"/>
          </a:solidFill>
          <a:ln w="9144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ar-SY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632" y="2703108"/>
            <a:ext cx="357188" cy="285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79663" y="3130568"/>
            <a:ext cx="2143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Diagnostics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146690" y="3337145"/>
            <a:ext cx="21431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7F8C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 in an AI analysis observer that listens for new patient data and provides automated insights.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7144" y="4520836"/>
            <a:ext cx="9144000" cy="500063"/>
          </a:xfrm>
          <a:prstGeom prst="rect">
            <a:avLst/>
          </a:prstGeom>
          <a:solidFill>
            <a:srgbClr val="1A2B4D"/>
          </a:solidFill>
          <a:ln/>
        </p:spPr>
      </p:sp>
      <p:sp>
        <p:nvSpPr>
          <p:cNvPr id="21" name="Text 15"/>
          <p:cNvSpPr/>
          <p:nvPr/>
        </p:nvSpPr>
        <p:spPr>
          <a:xfrm>
            <a:off x="0" y="4643438"/>
            <a:ext cx="9144000" cy="500063"/>
          </a:xfrm>
          <a:prstGeom prst="rect">
            <a:avLst/>
          </a:prstGeom>
          <a:noFill/>
          <a:ln/>
        </p:spPr>
        <p:txBody>
          <a:bodyPr wrap="square" lIns="510286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Hospital Management System | Pattern Programming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1109</Words>
  <Application>Microsoft Office PowerPoint</Application>
  <PresentationFormat>عرض على الشاشة (16:9)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8" baseType="lpstr">
      <vt:lpstr>Arial</vt:lpstr>
      <vt:lpstr>Calibri</vt:lpstr>
      <vt:lpstr>Fira Code</vt:lpstr>
      <vt:lpstr>Inter</vt:lpstr>
      <vt:lpstr>Inter Bold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khalil almasri</cp:lastModifiedBy>
  <cp:revision>8</cp:revision>
  <dcterms:created xsi:type="dcterms:W3CDTF">2026-05-18T14:50:30Z</dcterms:created>
  <dcterms:modified xsi:type="dcterms:W3CDTF">2026-05-18T15:31:42Z</dcterms:modified>
</cp:coreProperties>
</file>