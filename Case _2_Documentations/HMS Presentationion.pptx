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6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46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7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qasemalhamidi/my-project.git" TargetMode="Externa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531" y="1115737"/>
            <a:ext cx="642938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1047" y="2273945"/>
            <a:ext cx="8101905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2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HOSPITAL </a:t>
            </a:r>
            <a:r>
              <a:rPr lang="en-US" sz="3300" b="1" kern="0" spc="2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</a:rPr>
              <a:t>Management</a:t>
            </a:r>
            <a:r>
              <a:rPr lang="en-US" sz="3300" b="1" kern="0" spc="2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SYSTEM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432447" y="2870448"/>
            <a:ext cx="42791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kern="0" spc="1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Structural Design with Composite Pattern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1714500" y="3327648"/>
            <a:ext cx="5715000" cy="7536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1714500" y="3327648"/>
            <a:ext cx="5715000" cy="7144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245" y="3546425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34270" y="3516957"/>
            <a:ext cx="9751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Khalil Al-Masri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5843" y="3546425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15868" y="3516957"/>
            <a:ext cx="12126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Qasim Al-Humaidi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9572" y="3891111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489597" y="3861643"/>
            <a:ext cx="14644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Mohammed Al-Homsi</a:t>
            </a:r>
            <a:endParaRPr lang="en-US" sz="10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7274" y="3891111"/>
            <a:ext cx="11430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537299" y="3861643"/>
            <a:ext cx="116978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Mahmoud Nemer</a:t>
            </a:r>
            <a:endParaRPr lang="en-US" sz="1050" dirty="0"/>
          </a:p>
        </p:txBody>
      </p:sp>
      <p:sp>
        <p:nvSpPr>
          <p:cNvPr id="16" name="Text 8"/>
          <p:cNvSpPr/>
          <p:nvPr/>
        </p:nvSpPr>
        <p:spPr>
          <a:xfrm>
            <a:off x="3126284" y="4879181"/>
            <a:ext cx="289143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PROGRAMMING PROJECT • MAY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Scope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350811"/>
            <a:ext cx="44291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kern="0" spc="1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GENERAL OBJECTIVES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672279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2944" y="1643704"/>
            <a:ext cx="41648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</a:t>
            </a:r>
            <a:r>
              <a:rPr lang="en-US" sz="11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scalable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organizational structure for a modern hospital environment.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229492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7225" y="2200917"/>
            <a:ext cx="42005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software engineering principles to manage complex multi-level entities.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5000625" y="1350811"/>
            <a:ext cx="3714750" cy="20859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5"/>
          <p:cNvSpPr/>
          <p:nvPr/>
        </p:nvSpPr>
        <p:spPr>
          <a:xfrm>
            <a:off x="5000625" y="1350811"/>
            <a:ext cx="35719" cy="20859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6"/>
          <p:cNvSpPr/>
          <p:nvPr/>
        </p:nvSpPr>
        <p:spPr>
          <a:xfrm>
            <a:off x="5129213" y="1436536"/>
            <a:ext cx="34575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kern="0" spc="1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PRIMARY PATTERN FOCUS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213" y="1758004"/>
            <a:ext cx="160734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75672" y="1729429"/>
            <a:ext cx="321111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the </a:t>
            </a:r>
            <a:r>
              <a:rPr lang="en-US" sz="11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Composite Pattern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the core structural foundation.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213" y="2315217"/>
            <a:ext cx="125016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39953" y="2286642"/>
            <a:ext cx="324683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uniform treatment of individual staff and entire departments.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Structural Problem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714375" y="1465111"/>
            <a:ext cx="442913" cy="442913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579411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1594" y="1665136"/>
            <a:ext cx="7108031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Hierarchical Depth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321594" y="1952672"/>
            <a:ext cx="7108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Hospitals contain many levels (Main Admin → Depts → Units → Staff). Managing this </a:t>
            </a:r>
            <a:r>
              <a:rPr lang="en-US" sz="10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multi-level tree</a:t>
            </a: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manually leads to fragmented and complex code.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14375" y="2659903"/>
            <a:ext cx="442913" cy="442913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774203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1594" y="2859928"/>
            <a:ext cx="7108031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Type Inconsistency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321594" y="3147464"/>
            <a:ext cx="7108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Treating a "Department" differently from an "Employee" requires complex </a:t>
            </a:r>
            <a:r>
              <a:rPr lang="en-US" sz="10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if-else logic</a:t>
            </a: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duplicate code for similar operations.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14375" y="3854695"/>
            <a:ext cx="442913" cy="442913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78" y="3968995"/>
            <a:ext cx="150019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1594" y="4054720"/>
            <a:ext cx="7108031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Manual Aggregation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321594" y="4342256"/>
            <a:ext cx="7108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Calculating total payroll or headcounts across branches requires repetitive, </a:t>
            </a:r>
            <a:r>
              <a:rPr lang="en-US" sz="10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error-prone manual loops</a:t>
            </a: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are difficult to scale.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Solution: The Composite Pattern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42938" y="1393673"/>
            <a:ext cx="7858125" cy="17430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393673"/>
            <a:ext cx="7858125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1679423"/>
            <a:ext cx="71437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"Compose objects into </a:t>
            </a:r>
            <a:r>
              <a:rPr lang="en-US" sz="1600" i="1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tree structures</a:t>
            </a:r>
            <a:r>
              <a:rPr lang="en-US" sz="1700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represent part-whole hierarchies. Composite lets clients treat individual objects and compositions of objects </a:t>
            </a:r>
            <a:r>
              <a:rPr lang="en-US" sz="1600" i="1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uniformly</a:t>
            </a:r>
            <a:r>
              <a:rPr lang="en-US" sz="1700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."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953" y="3635025"/>
            <a:ext cx="321469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4061864"/>
            <a:ext cx="21431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Tree Structure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00125" y="4322611"/>
            <a:ext cx="2143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Organizes entities into a recursive hierarchy of parents and children.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406" y="3635025"/>
            <a:ext cx="357188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00438" y="4061864"/>
            <a:ext cx="21431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Uniformity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500438" y="4322611"/>
            <a:ext cx="21431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client interacts with a single interface for both leaves and composites.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9438" y="3635025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00750" y="4061864"/>
            <a:ext cx="21431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Part-Whole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000750" y="4322611"/>
            <a:ext cx="2143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Perfectly models the relationship between staff and departments.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Composite Core Elements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536548"/>
            <a:ext cx="2762259" cy="31003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536548"/>
            <a:ext cx="2762259" cy="2857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99" y="1784793"/>
            <a:ext cx="446484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7219" y="2383082"/>
            <a:ext cx="240507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7219" y="2756343"/>
            <a:ext cx="240507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base interface that defines common operations for all objects in the hospital hierarchy.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200876" y="3609240"/>
            <a:ext cx="1217758" cy="1803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6"/>
          <p:cNvSpPr/>
          <p:nvPr/>
        </p:nvSpPr>
        <p:spPr>
          <a:xfrm>
            <a:off x="1200876" y="3609240"/>
            <a:ext cx="1217758" cy="18038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HospitalComponent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190884" y="1536548"/>
            <a:ext cx="2762259" cy="31003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8"/>
          <p:cNvSpPr/>
          <p:nvPr/>
        </p:nvSpPr>
        <p:spPr>
          <a:xfrm>
            <a:off x="3190884" y="1536548"/>
            <a:ext cx="2762259" cy="2857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406" y="1784793"/>
            <a:ext cx="357188" cy="357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69478" y="2383082"/>
            <a:ext cx="240507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Leaf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369478" y="2756343"/>
            <a:ext cx="240507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Represents individual staff members. These are end-nodes that do not contain other components.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117005" y="3609240"/>
            <a:ext cx="910019" cy="1803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2"/>
          <p:cNvSpPr/>
          <p:nvPr/>
        </p:nvSpPr>
        <p:spPr>
          <a:xfrm>
            <a:off x="4117005" y="3609240"/>
            <a:ext cx="910019" cy="18038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EmployeeLeaf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5953144" y="1536548"/>
            <a:ext cx="2762259" cy="31003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4"/>
          <p:cNvSpPr/>
          <p:nvPr/>
        </p:nvSpPr>
        <p:spPr>
          <a:xfrm>
            <a:off x="5953144" y="1536548"/>
            <a:ext cx="2762259" cy="2857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341" y="1784793"/>
            <a:ext cx="401836" cy="3571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31737" y="2383082"/>
            <a:ext cx="240507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Composite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131737" y="2756343"/>
            <a:ext cx="240507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Represents departments or units. They store child components and implement recursive logic.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940795" y="3609240"/>
            <a:ext cx="786929" cy="1803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18"/>
          <p:cNvSpPr/>
          <p:nvPr/>
        </p:nvSpPr>
        <p:spPr>
          <a:xfrm>
            <a:off x="6940795" y="3609240"/>
            <a:ext cx="786929" cy="18038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Department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Implementation Hierarchy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01770" y="1379385"/>
            <a:ext cx="4470230" cy="7858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14313" y="1572267"/>
            <a:ext cx="428625" cy="42862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1" y="1700854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589233"/>
            <a:ext cx="427374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Top Level: Hospital Administration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5813" y="1828549"/>
            <a:ext cx="427374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Root Composite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node that manages the entire organizational tree.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13564" y="1369882"/>
            <a:ext cx="4066105" cy="7858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ar-SY" dirty="0"/>
          </a:p>
        </p:txBody>
      </p:sp>
      <p:sp>
        <p:nvSpPr>
          <p:cNvPr id="10" name="Shape 6"/>
          <p:cNvSpPr/>
          <p:nvPr/>
        </p:nvSpPr>
        <p:spPr>
          <a:xfrm>
            <a:off x="4832748" y="1501934"/>
            <a:ext cx="428625" cy="42862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3120" y="1624951"/>
            <a:ext cx="192881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1449" y="1553883"/>
            <a:ext cx="46505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Middle Level: Clinical Departments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69217" y="1781422"/>
            <a:ext cx="4650581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Sub-Composite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nodes (e.g., Cardiology, ER) containing further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units or staff.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081244" y="2602482"/>
            <a:ext cx="5503007" cy="7858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237501" y="2832100"/>
            <a:ext cx="428625" cy="42862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ar-SY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6803" y="2992062"/>
            <a:ext cx="150019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15207" y="2822104"/>
            <a:ext cx="4714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Bottom Level: Medical Staff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2767751" y="3013199"/>
            <a:ext cx="47148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Leaf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nodes (Doctors, Nurses) representing individual entities with no children.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2982191" y="3714433"/>
            <a:ext cx="438090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Uniform Operation: Every level responds to the same interface methods.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2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UML Architecture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74713" y="1322236"/>
            <a:ext cx="5518882" cy="3343275"/>
          </a:xfrm>
          <a:prstGeom prst="rect">
            <a:avLst/>
          </a:prstGeom>
          <a:solidFill>
            <a:srgbClr val="FFFFFF"/>
          </a:solidFill>
          <a:ln w="27432">
            <a:solidFill>
              <a:srgbClr val="38BDF8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93" y="1465111"/>
            <a:ext cx="5357813" cy="307181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88" y="1515117"/>
            <a:ext cx="160734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40078" y="1622273"/>
            <a:ext cx="223242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6340078" y="1840157"/>
            <a:ext cx="22324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representation of the </a:t>
            </a:r>
            <a:r>
              <a:rPr lang="en-US" sz="8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Composite Pattern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implementation in the Hospital System.</a:t>
            </a:r>
            <a:endParaRPr lang="en-US" sz="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88" y="2513065"/>
            <a:ext cx="178594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57938" y="2620221"/>
            <a:ext cx="22145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357938" y="2838106"/>
            <a:ext cx="22145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mapping of </a:t>
            </a:r>
            <a:r>
              <a:rPr lang="en-US" sz="8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Realization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8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Aggregation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components.</a:t>
            </a:r>
            <a:endParaRPr lang="en-US" sz="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88" y="3351005"/>
            <a:ext cx="125016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304359" y="3458161"/>
            <a:ext cx="226814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Nodes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6304359" y="3676045"/>
            <a:ext cx="22681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the roles of </a:t>
            </a:r>
            <a:r>
              <a:rPr lang="en-US" sz="8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EmployeeLeaf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80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composites.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Recursive Logic in Action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93673"/>
            <a:ext cx="4857750" cy="30718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3673"/>
            <a:ext cx="57150" cy="3071813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607986"/>
            <a:ext cx="44291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Implementation in Department.java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5813" y="1831563"/>
            <a:ext cx="69115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@Override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5813" y="2037280"/>
            <a:ext cx="99833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double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860947" y="2037280"/>
            <a:ext cx="107513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getTotalSalary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36081" y="2037280"/>
            <a:ext cx="3071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 {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5813" y="2242998"/>
            <a:ext cx="46077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double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246584" y="2242998"/>
            <a:ext cx="8447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total = 0;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5813" y="2448716"/>
            <a:ext cx="23038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16198" y="2448716"/>
            <a:ext cx="29950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(HospitalComponent child : children) {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5813" y="2654433"/>
            <a:ext cx="176629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Recursive delegation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5813" y="2860151"/>
            <a:ext cx="11519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total += child.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937742" y="2860151"/>
            <a:ext cx="107513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getTotalSalary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012877" y="2860151"/>
            <a:ext cx="23038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();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85813" y="3065869"/>
            <a:ext cx="7679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85813" y="3271586"/>
            <a:ext cx="46077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246584" y="3271586"/>
            <a:ext cx="53756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total;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5813" y="3477304"/>
            <a:ext cx="7679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715000" y="1536548"/>
            <a:ext cx="2857500" cy="296945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3594" y="1886592"/>
            <a:ext cx="25003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893594" y="2211632"/>
            <a:ext cx="25003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 iterates through its collection of children without knowing their specific type.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893594" y="2971660"/>
            <a:ext cx="25003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delegating the call to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getTotalSalary()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system automatically traverses down the tree.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893594" y="3731689"/>
            <a:ext cx="25003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recursive traversal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ensures that a single call at the root level aggregates data from all branches and leaves.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Benefits of Composite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536548"/>
            <a:ext cx="2762259" cy="29575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536548"/>
            <a:ext cx="2762259" cy="2857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99" y="1784793"/>
            <a:ext cx="446484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7219" y="2383082"/>
            <a:ext cx="240507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Simplified Client Code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7219" y="2756343"/>
            <a:ext cx="2405072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UI doesn't need to check if it's dealing with a leaf or a composite. It interacts with the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HospitalComponent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interface uniformly.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190884" y="1536548"/>
            <a:ext cx="2762259" cy="29575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6"/>
          <p:cNvSpPr/>
          <p:nvPr/>
        </p:nvSpPr>
        <p:spPr>
          <a:xfrm>
            <a:off x="3190884" y="1536548"/>
            <a:ext cx="2762259" cy="2857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730" y="1784793"/>
            <a:ext cx="312539" cy="357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69478" y="2383082"/>
            <a:ext cx="240507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Ease of Extension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369478" y="2756343"/>
            <a:ext cx="2405072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department types or specialized staff roles can be added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without changing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existing base logic or client code.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953144" y="1536548"/>
            <a:ext cx="2762259" cy="29575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0"/>
          <p:cNvSpPr/>
          <p:nvPr/>
        </p:nvSpPr>
        <p:spPr>
          <a:xfrm>
            <a:off x="5953144" y="1536548"/>
            <a:ext cx="2762259" cy="2857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666" y="1784793"/>
            <a:ext cx="357188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31737" y="2383082"/>
            <a:ext cx="240507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Automated Traversal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131737" y="2756343"/>
            <a:ext cx="2405072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support for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recursive operations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the entire tree, such as calculating total payroll or staff counts.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 Trade-offs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36548"/>
            <a:ext cx="3714750" cy="320218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66041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2994" y="1750861"/>
            <a:ext cx="113384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EA5E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Advantages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231278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5844" y="2195559"/>
            <a:ext cx="30360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Clean Architecture: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Decouples client code from the concrete classes of the hierarchy.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152822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35844" y="3117103"/>
            <a:ext cx="30360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 Maintainability: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Structural changes are localized within the Composite nodes.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074365"/>
            <a:ext cx="142875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35844" y="4038647"/>
            <a:ext cx="303609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Structural Clarity: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Explicitly models the part-whole relationship of the hospital.</a:t>
            </a:r>
            <a:endParaRPr lang="en-US" sz="1100" dirty="0"/>
          </a:p>
        </p:txBody>
      </p:sp>
      <p:sp>
        <p:nvSpPr>
          <p:cNvPr id="13" name="Shape 6"/>
          <p:cNvSpPr/>
          <p:nvPr/>
        </p:nvSpPr>
        <p:spPr>
          <a:xfrm>
            <a:off x="4857750" y="1536548"/>
            <a:ext cx="3714750" cy="343793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3" y="1766041"/>
            <a:ext cx="200025" cy="2000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79244" y="1750861"/>
            <a:ext cx="106712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Challenges</a:t>
            </a:r>
            <a:endParaRPr lang="en-US" sz="14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2231278"/>
            <a:ext cx="142875" cy="14287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322094" y="2195559"/>
            <a:ext cx="30360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Over-Generalization: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Leaf nodes might inherit methods that are only relevant to composites.</a:t>
            </a:r>
            <a:endParaRPr lang="en-US" sz="11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3152822"/>
            <a:ext cx="142875" cy="14287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322094" y="3117103"/>
            <a:ext cx="30360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Performance: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Deep recursive traversals may require optimization for large datasets.</a:t>
            </a:r>
            <a:endParaRPr lang="en-US" sz="11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4074365"/>
            <a:ext cx="142875" cy="14287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322094" y="4038647"/>
            <a:ext cx="30360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Complexity: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abstraction layer can make the system harder to debug for new developers.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Demonstration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65111"/>
            <a:ext cx="3893344" cy="147875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0094" y="1643704"/>
            <a:ext cx="428625" cy="42862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66" y="1772292"/>
            <a:ext cx="192881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1594" y="1815154"/>
            <a:ext cx="29646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Dynamic Tree View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321594" y="2140195"/>
            <a:ext cx="29646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GUI uses a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JTree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component to visually represent the hospital's hierarchical structure, directly mapping to the Composite pattern.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79156" y="1465111"/>
            <a:ext cx="3893344" cy="147875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57750" y="1643704"/>
            <a:ext cx="428625" cy="42862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906" y="1772292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9250" y="1815154"/>
            <a:ext cx="29646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Uniform Operations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29250" y="2140195"/>
            <a:ext cx="29646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Adding, searching, or modifying an employee or a department uses the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same underlying logic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simplifying the management module.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3143892"/>
            <a:ext cx="3893344" cy="147875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50094" y="3322486"/>
            <a:ext cx="428625" cy="42862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3" y="3451073"/>
            <a:ext cx="128588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1594" y="3493936"/>
            <a:ext cx="29646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Aggregation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321594" y="3818976"/>
            <a:ext cx="29646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updates of salary totals and staff counts as the hierarchy changes, powered by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recursive tree traversal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79156" y="3143892"/>
            <a:ext cx="3893344" cy="147875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57750" y="3322486"/>
            <a:ext cx="428625" cy="428625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338" y="3451073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29250" y="3493936"/>
            <a:ext cx="29646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Structural Integrity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29250" y="3818976"/>
            <a:ext cx="29646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that departments can contain other departments or staff, while staff members remain as </a:t>
            </a: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leaf nodes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no children.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36548"/>
            <a:ext cx="3714750" cy="29432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66041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2994" y="1750861"/>
            <a:ext cx="154550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EA5E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Success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231278"/>
            <a:ext cx="160734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3703" y="2195559"/>
            <a:ext cx="301823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1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Composite pattern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resolved the hierarchical complexity of the hospital system.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117103"/>
            <a:ext cx="107156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0125" y="3081384"/>
            <a:ext cx="307181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implementation meets </a:t>
            </a:r>
            <a:r>
              <a:rPr lang="en-US" sz="11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100%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structural requirements for the Pattern Programming course.</a:t>
            </a:r>
            <a:endParaRPr lang="en-US" sz="1150" dirty="0"/>
          </a:p>
        </p:txBody>
      </p:sp>
      <p:sp>
        <p:nvSpPr>
          <p:cNvPr id="11" name="Shape 5"/>
          <p:cNvSpPr/>
          <p:nvPr/>
        </p:nvSpPr>
        <p:spPr>
          <a:xfrm>
            <a:off x="4857750" y="1536548"/>
            <a:ext cx="3714750" cy="29432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1766041"/>
            <a:ext cx="200025" cy="2000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79244" y="1750861"/>
            <a:ext cx="1389431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EA5E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Pattern Impact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063" y="2231278"/>
            <a:ext cx="142875" cy="1428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22094" y="2195559"/>
            <a:ext cx="303609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 </a:t>
            </a:r>
            <a:r>
              <a:rPr lang="en-US" sz="11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scalable foundation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future organizational expansions.</a:t>
            </a:r>
            <a:endParaRPr lang="en-US" sz="11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2063" y="2881359"/>
            <a:ext cx="142875" cy="14287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322094" y="2845640"/>
            <a:ext cx="303609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a </a:t>
            </a:r>
            <a:r>
              <a:rPr lang="en-US" sz="11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maintainable architecture</a:t>
            </a: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reduces long-term technical debt.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737174"/>
            <a:ext cx="714375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00223" y="2092616"/>
            <a:ext cx="3343526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QUESTIONS?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2787848" y="2968647"/>
            <a:ext cx="356830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Attention!</a:t>
            </a:r>
            <a:endParaRPr lang="en-US" sz="1900" dirty="0"/>
          </a:p>
        </p:txBody>
      </p:sp>
      <p:sp>
        <p:nvSpPr>
          <p:cNvPr id="6" name="Shape 2"/>
          <p:cNvSpPr/>
          <p:nvPr/>
        </p:nvSpPr>
        <p:spPr>
          <a:xfrm>
            <a:off x="1714500" y="3709811"/>
            <a:ext cx="5715000" cy="7643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1714500" y="3709811"/>
            <a:ext cx="5715000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4"/>
          <p:cNvSpPr/>
          <p:nvPr/>
        </p:nvSpPr>
        <p:spPr>
          <a:xfrm>
            <a:off x="1714500" y="3999133"/>
            <a:ext cx="5715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770757" y="4297384"/>
            <a:ext cx="10144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Khalil Al-Masri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999482" y="4297384"/>
            <a:ext cx="125015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Qasim Al-Humaidi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463951" y="4297384"/>
            <a:ext cx="15019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Mohammed Al-Homsi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80237" y="4297384"/>
            <a:ext cx="119300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Mahmoud Nemer</a:t>
            </a:r>
            <a:endParaRPr lang="en-US" sz="1000" dirty="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FEEF8016-24EE-4015-9690-85C8C8A8572D}"/>
              </a:ext>
            </a:extLst>
          </p:cNvPr>
          <p:cNvSpPr txBox="1"/>
          <p:nvPr/>
        </p:nvSpPr>
        <p:spPr>
          <a:xfrm>
            <a:off x="2059173" y="3322798"/>
            <a:ext cx="462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hlinkClick r:id="rId5"/>
              </a:rPr>
              <a:t>Link of Project</a:t>
            </a:r>
            <a:endParaRPr lang="ar-JO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809</Words>
  <Application>Microsoft Office PowerPoint</Application>
  <PresentationFormat>On-screen Show (16:9)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Fira Code</vt:lpstr>
      <vt:lpstr>Inter</vt:lpstr>
      <vt:lpstr>Inter SemiBold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قاسم فندي عزات الحميدي</cp:lastModifiedBy>
  <cp:revision>8</cp:revision>
  <dcterms:created xsi:type="dcterms:W3CDTF">2026-05-11T20:35:43Z</dcterms:created>
  <dcterms:modified xsi:type="dcterms:W3CDTF">2026-05-11T21:10:04Z</dcterms:modified>
</cp:coreProperties>
</file>